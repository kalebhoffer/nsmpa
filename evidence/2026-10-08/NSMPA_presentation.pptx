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Policy: de-index/anonymize</c:v>
                </c:pt>
              </c:strCache>
            </c:strRef>
          </c:tx>
          <c:spPr>
            <a:solidFill>
              <a:srgbClr val="2A78D6"/>
            </a:solidFill>
          </c:spPr>
          <c:dLbls>
            <c:numFmt formatCode="0;;;" sourceLinked="0"/>
            <c:txPr>
              <a:bodyPr/>
              <a:lstStyle/>
              <a:p>
                <a:pPr>
                  <a:defRPr sz="1100">
                    <a:solidFill>
                      <a:srgbClr val="52514E"/>
                    </a:solidFill>
                  </a:defRPr>
                </a:pPr>
              </a:p>
            </c:txPr>
            <c:dLblPos val="outEnd"/>
            <c:showLegendKey val="0"/>
            <c:showVal val="1"/>
            <c:showCatName val="0"/>
            <c:showSerName val="0"/>
            <c:showPercent val="0"/>
            <c:showBubbleSize val="0"/>
            <c:showLeaderLines val="1"/>
          </c:dLbls>
          <c:cat>
            <c:strRef>
              <c:f>Sheet1!$A$2:$A$4</c:f>
              <c:strCache>
                <c:ptCount val="3"/>
                <c:pt idx="0">
                  <c:v>Student media</c:v>
                </c:pt>
                <c:pt idx="1">
                  <c:v>Professional newsrooms</c:v>
                </c:pt>
                <c:pt idx="2">
                  <c:v>Standards &amp; support orgs</c:v>
                </c:pt>
              </c:strCache>
            </c:strRef>
          </c:cat>
          <c:val>
            <c:numRef>
              <c:f>Sheet1!$B$2:$B$4</c:f>
              <c:numCache>
                <c:formatCode>General</c:formatCode>
                <c:ptCount val="3"/>
                <c:pt idx="0">
                  <c:v>1</c:v>
                </c:pt>
                <c:pt idx="1">
                  <c:v>4</c:v>
                </c:pt>
                <c:pt idx="2">
                  <c:v>0</c:v>
                </c:pt>
              </c:numCache>
            </c:numRef>
          </c:val>
        </c:ser>
        <c:ser>
          <c:idx val="1"/>
          <c:order val="1"/>
          <c:tx>
            <c:strRef>
              <c:f>Sheet1!$C$1</c:f>
              <c:strCache>
                <c:ptCount val="1"/>
                <c:pt idx="0">
                  <c:v>Practice: de-index/anonymize</c:v>
                </c:pt>
              </c:strCache>
            </c:strRef>
          </c:tx>
          <c:spPr>
            <a:solidFill>
              <a:srgbClr val="EB6834"/>
            </a:solidFill>
          </c:spPr>
          <c:dLbls>
            <c:numFmt formatCode="0;;;" sourceLinked="0"/>
            <c:txPr>
              <a:bodyPr/>
              <a:lstStyle/>
              <a:p>
                <a:pPr>
                  <a:defRPr sz="1100">
                    <a:solidFill>
                      <a:srgbClr val="52514E"/>
                    </a:solidFill>
                  </a:defRPr>
                </a:pPr>
              </a:p>
            </c:txPr>
            <c:dLblPos val="outEnd"/>
            <c:showLegendKey val="0"/>
            <c:showVal val="1"/>
            <c:showCatName val="0"/>
            <c:showSerName val="0"/>
            <c:showPercent val="0"/>
            <c:showBubbleSize val="0"/>
            <c:showLeaderLines val="1"/>
          </c:dLbls>
          <c:cat>
            <c:strRef>
              <c:f>Sheet1!$A$2:$A$4</c:f>
              <c:strCache>
                <c:ptCount val="3"/>
                <c:pt idx="0">
                  <c:v>Student media</c:v>
                </c:pt>
                <c:pt idx="1">
                  <c:v>Professional newsrooms</c:v>
                </c:pt>
                <c:pt idx="2">
                  <c:v>Standards &amp; support orgs</c:v>
                </c:pt>
              </c:strCache>
            </c:strRef>
          </c:cat>
          <c:val>
            <c:numRef>
              <c:f>Sheet1!$C$2:$C$4</c:f>
              <c:numCache>
                <c:formatCode>General</c:formatCode>
                <c:ptCount val="3"/>
                <c:pt idx="0">
                  <c:v>0</c:v>
                </c:pt>
                <c:pt idx="1">
                  <c:v>0</c:v>
                </c:pt>
                <c:pt idx="2">
                  <c:v>0</c:v>
                </c:pt>
              </c:numCache>
            </c:numRef>
          </c:val>
        </c:ser>
        <c:ser>
          <c:idx val="2"/>
          <c:order val="2"/>
          <c:tx>
            <c:strRef>
              <c:f>Sheet1!$D$1</c:f>
              <c:strCache>
                <c:ptCount val="1"/>
                <c:pt idx="0">
                  <c:v>Policy: unpublish</c:v>
                </c:pt>
              </c:strCache>
            </c:strRef>
          </c:tx>
          <c:spPr>
            <a:solidFill>
              <a:srgbClr val="1BAF7A"/>
            </a:solidFill>
          </c:spPr>
          <c:dLbls>
            <c:numFmt formatCode="0;;;" sourceLinked="0"/>
            <c:txPr>
              <a:bodyPr/>
              <a:lstStyle/>
              <a:p>
                <a:pPr>
                  <a:defRPr sz="1100">
                    <a:solidFill>
                      <a:srgbClr val="52514E"/>
                    </a:solidFill>
                  </a:defRPr>
                </a:pPr>
              </a:p>
            </c:txPr>
            <c:dLblPos val="outEnd"/>
            <c:showLegendKey val="0"/>
            <c:showVal val="1"/>
            <c:showCatName val="0"/>
            <c:showSerName val="0"/>
            <c:showPercent val="0"/>
            <c:showBubbleSize val="0"/>
            <c:showLeaderLines val="1"/>
          </c:dLbls>
          <c:cat>
            <c:strRef>
              <c:f>Sheet1!$A$2:$A$4</c:f>
              <c:strCache>
                <c:ptCount val="3"/>
                <c:pt idx="0">
                  <c:v>Student media</c:v>
                </c:pt>
                <c:pt idx="1">
                  <c:v>Professional newsrooms</c:v>
                </c:pt>
                <c:pt idx="2">
                  <c:v>Standards &amp; support orgs</c:v>
                </c:pt>
              </c:strCache>
            </c:strRef>
          </c:cat>
          <c:val>
            <c:numRef>
              <c:f>Sheet1!$D$2:$D$4</c:f>
              <c:numCache>
                <c:formatCode>General</c:formatCode>
                <c:ptCount val="3"/>
                <c:pt idx="0">
                  <c:v>0</c:v>
                </c:pt>
                <c:pt idx="1">
                  <c:v>3</c:v>
                </c:pt>
                <c:pt idx="2">
                  <c:v>0</c:v>
                </c:pt>
              </c:numCache>
            </c:numRef>
          </c:val>
        </c:ser>
        <c:gapWidth val="60"/>
        <c:overlap val="-8"/>
        <c:axId val="-2068027336"/>
        <c:axId val="-2113994440"/>
      </c:barChart>
      <c:catAx>
        <c:axId val="-2068027336"/>
        <c:scaling>
          <c:orientation val="maxMin"/>
        </c:scaling>
        <c:delete val="0"/>
        <c:axPos val="l"/>
        <c:majorTickMark val="out"/>
        <c:minorTickMark val="none"/>
        <c:tickLblPos val="nextTo"/>
        <c:spPr>
          <a:ln>
            <a:solidFill>
              <a:srgbClr val="C9C8C3"/>
            </a:solidFill>
          </a:ln>
        </c:spPr>
        <c:txPr>
          <a:bodyPr/>
          <a:lstStyle/>
          <a:p>
            <a:pPr>
              <a:defRPr sz="1300"/>
            </a:pPr>
          </a:p>
        </c:txPr>
        <c:crossAx val="-2113994440"/>
        <c:crosses val="autoZero"/>
        <c:auto val="1"/>
        <c:lblAlgn val="ctr"/>
        <c:lblOffset val="100"/>
        <c:noMultiLvlLbl val="0"/>
      </c:catAx>
      <c:valAx>
        <c:axId val="-2113994440"/>
        <c:scaling>
          <c:min val="0.0"/>
        </c:scaling>
        <c:delete val="0"/>
        <c:axPos val="b"/>
        <c:majorGridlines>
          <c:spPr>
            <a:ln>
              <a:solidFill>
                <a:srgbClr val="ECEBE7"/>
              </a:solidFill>
            </a:ln>
          </c:spPr>
        </c:majorGridlines>
        <c:majorTickMark val="out"/>
        <c:minorTickMark val="none"/>
        <c:tickLblPos val="nextTo"/>
        <c:spPr>
          <a:ln>
            <a:noFill/>
          </a:ln>
        </c:spPr>
        <c:txPr>
          <a:bodyPr/>
          <a:lstStyle/>
          <a:p>
            <a:pPr>
              <a:defRPr sz="1100">
                <a:solidFill>
                  <a:srgbClr val="8A8984"/>
                </a:solidFill>
              </a:defRPr>
            </a:pPr>
          </a:p>
        </c:txPr>
        <c:crossAx val="-2068027336"/>
        <c:crosses val="autoZero"/>
        <c:majorUnit val="1.0"/>
      </c:valAx>
    </c:plotArea>
    <c:legend>
      <c:legendPos val="b"/>
      <c:overlay val="0"/>
      <c:txPr>
        <a:bodyPr/>
        <a:lstStyle/>
        <a:p>
          <a:pPr>
            <a:defRPr sz="1300"/>
          </a:pPr>
        </a:p>
      </c:txPr>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Student media</c:v>
                </c:pt>
              </c:strCache>
            </c:strRef>
          </c:tx>
          <c:spPr>
            <a:solidFill>
              <a:srgbClr val="2A78D6"/>
            </a:solidFill>
          </c:spPr>
          <c:dLbls>
            <c:numFmt formatCode="0;;;" sourceLinked="0"/>
            <c:txPr>
              <a:bodyPr/>
              <a:lstStyle/>
              <a:p>
                <a:pPr>
                  <a:defRPr sz="1100"/>
                </a:pPr>
              </a:p>
            </c:txPr>
            <c:dLblPos val="outEnd"/>
            <c:showLegendKey val="0"/>
            <c:showVal val="1"/>
            <c:showCatName val="0"/>
            <c:showSerName val="0"/>
            <c:showPercent val="0"/>
            <c:showBubbleSize val="0"/>
            <c:showLeaderLines val="1"/>
          </c:dLbls>
          <c:cat>
            <c:strRef>
              <c:f>Sheet1!$A$2:$A$6</c:f>
              <c:strCache>
                <c:ptCount val="5"/>
                <c:pt idx="0">
                  <c:v>De-index/anonymize, archive kept</c:v>
                </c:pt>
                <c:pt idx="1">
                  <c:v>Unpublishing permitted</c:v>
                </c:pt>
                <c:pt idx="2">
                  <c:v>Update / editor's note only</c:v>
                </c:pt>
                <c:pt idx="3">
                  <c:v>No relief</c:v>
                </c:pt>
                <c:pt idx="4">
                  <c:v>Not addressed</c:v>
                </c:pt>
              </c:strCache>
            </c:strRef>
          </c:cat>
          <c:val>
            <c:numRef>
              <c:f>Sheet1!$B$2:$B$6</c:f>
              <c:numCache>
                <c:formatCode>General</c:formatCode>
                <c:ptCount val="5"/>
                <c:pt idx="0">
                  <c:v>1</c:v>
                </c:pt>
                <c:pt idx="1">
                  <c:v>0</c:v>
                </c:pt>
                <c:pt idx="2">
                  <c:v>4</c:v>
                </c:pt>
                <c:pt idx="3">
                  <c:v>0</c:v>
                </c:pt>
                <c:pt idx="4">
                  <c:v>1</c:v>
                </c:pt>
              </c:numCache>
            </c:numRef>
          </c:val>
        </c:ser>
        <c:ser>
          <c:idx val="1"/>
          <c:order val="1"/>
          <c:tx>
            <c:strRef>
              <c:f>Sheet1!$C$1</c:f>
              <c:strCache>
                <c:ptCount val="1"/>
                <c:pt idx="0">
                  <c:v>Professional newsrooms</c:v>
                </c:pt>
              </c:strCache>
            </c:strRef>
          </c:tx>
          <c:spPr>
            <a:solidFill>
              <a:srgbClr val="EB6834"/>
            </a:solidFill>
          </c:spPr>
          <c:dLbls>
            <c:numFmt formatCode="0;;;" sourceLinked="0"/>
            <c:txPr>
              <a:bodyPr/>
              <a:lstStyle/>
              <a:p>
                <a:pPr>
                  <a:defRPr sz="1100"/>
                </a:pPr>
              </a:p>
            </c:txPr>
            <c:dLblPos val="outEnd"/>
            <c:showLegendKey val="0"/>
            <c:showVal val="1"/>
            <c:showCatName val="0"/>
            <c:showSerName val="0"/>
            <c:showPercent val="0"/>
            <c:showBubbleSize val="0"/>
            <c:showLeaderLines val="1"/>
          </c:dLbls>
          <c:cat>
            <c:strRef>
              <c:f>Sheet1!$A$2:$A$6</c:f>
              <c:strCache>
                <c:ptCount val="5"/>
                <c:pt idx="0">
                  <c:v>De-index/anonymize, archive kept</c:v>
                </c:pt>
                <c:pt idx="1">
                  <c:v>Unpublishing permitted</c:v>
                </c:pt>
                <c:pt idx="2">
                  <c:v>Update / editor's note only</c:v>
                </c:pt>
                <c:pt idx="3">
                  <c:v>No relief</c:v>
                </c:pt>
                <c:pt idx="4">
                  <c:v>Not addressed</c:v>
                </c:pt>
              </c:strCache>
            </c:strRef>
          </c:cat>
          <c:val>
            <c:numRef>
              <c:f>Sheet1!$C$2:$C$6</c:f>
              <c:numCache>
                <c:formatCode>General</c:formatCode>
                <c:ptCount val="5"/>
                <c:pt idx="0">
                  <c:v>3</c:v>
                </c:pt>
                <c:pt idx="1">
                  <c:v>2</c:v>
                </c:pt>
                <c:pt idx="2">
                  <c:v>0</c:v>
                </c:pt>
                <c:pt idx="3">
                  <c:v>0</c:v>
                </c:pt>
                <c:pt idx="4">
                  <c:v>1</c:v>
                </c:pt>
              </c:numCache>
            </c:numRef>
          </c:val>
        </c:ser>
        <c:ser>
          <c:idx val="2"/>
          <c:order val="2"/>
          <c:tx>
            <c:strRef>
              <c:f>Sheet1!$D$1</c:f>
              <c:strCache>
                <c:ptCount val="1"/>
                <c:pt idx="0">
                  <c:v>Standards &amp; support orgs</c:v>
                </c:pt>
              </c:strCache>
            </c:strRef>
          </c:tx>
          <c:spPr>
            <a:solidFill>
              <a:srgbClr val="1BAF7A"/>
            </a:solidFill>
          </c:spPr>
          <c:dLbls>
            <c:numFmt formatCode="0;;;" sourceLinked="0"/>
            <c:txPr>
              <a:bodyPr/>
              <a:lstStyle/>
              <a:p>
                <a:pPr>
                  <a:defRPr sz="1100"/>
                </a:pPr>
              </a:p>
            </c:txPr>
            <c:dLblPos val="outEnd"/>
            <c:showLegendKey val="0"/>
            <c:showVal val="1"/>
            <c:showCatName val="0"/>
            <c:showSerName val="0"/>
            <c:showPercent val="0"/>
            <c:showBubbleSize val="0"/>
            <c:showLeaderLines val="1"/>
          </c:dLbls>
          <c:cat>
            <c:strRef>
              <c:f>Sheet1!$A$2:$A$6</c:f>
              <c:strCache>
                <c:ptCount val="5"/>
                <c:pt idx="0">
                  <c:v>De-index/anonymize, archive kept</c:v>
                </c:pt>
                <c:pt idx="1">
                  <c:v>Unpublishing permitted</c:v>
                </c:pt>
                <c:pt idx="2">
                  <c:v>Update / editor's note only</c:v>
                </c:pt>
                <c:pt idx="3">
                  <c:v>No relief</c:v>
                </c:pt>
                <c:pt idx="4">
                  <c:v>Not addressed</c:v>
                </c:pt>
              </c:strCache>
            </c:strRef>
          </c:cat>
          <c:val>
            <c:numRef>
              <c:f>Sheet1!$D$2:$D$6</c:f>
              <c:numCache>
                <c:formatCode>General</c:formatCode>
                <c:ptCount val="5"/>
                <c:pt idx="0">
                  <c:v>0</c:v>
                </c:pt>
                <c:pt idx="1">
                  <c:v>0</c:v>
                </c:pt>
                <c:pt idx="2">
                  <c:v>0</c:v>
                </c:pt>
                <c:pt idx="3">
                  <c:v>1</c:v>
                </c:pt>
                <c:pt idx="4">
                  <c:v>0</c:v>
                </c:pt>
              </c:numCache>
            </c:numRef>
          </c:val>
        </c:ser>
        <c:gapWidth val="60"/>
        <c:axId val="-2068027336"/>
        <c:axId val="-2113994440"/>
      </c:barChart>
      <c:catAx>
        <c:axId val="-2068027336"/>
        <c:scaling>
          <c:orientation val="maxMin"/>
        </c:scaling>
        <c:delete val="0"/>
        <c:axPos val="l"/>
        <c:majorTickMark val="out"/>
        <c:minorTickMark val="none"/>
        <c:tickLblPos val="nextTo"/>
        <c:spPr>
          <a:ln>
            <a:solidFill>
              <a:srgbClr val="C9C8C3"/>
            </a:solidFill>
          </a:ln>
        </c:spPr>
        <c:txPr>
          <a:bodyPr/>
          <a:lstStyle/>
          <a:p>
            <a:pPr>
              <a:defRPr sz="1300"/>
            </a:pPr>
          </a:p>
        </c:txPr>
        <c:crossAx val="-2113994440"/>
        <c:crosses val="autoZero"/>
        <c:auto val="1"/>
        <c:lblAlgn val="ctr"/>
        <c:lblOffset val="100"/>
        <c:noMultiLvlLbl val="0"/>
      </c:catAx>
      <c:valAx>
        <c:axId val="-2113994440"/>
        <c:scaling>
          <c:min val="0.0"/>
        </c:scaling>
        <c:delete val="0"/>
        <c:axPos val="b"/>
        <c:majorGridlines>
          <c:spPr>
            <a:ln>
              <a:solidFill>
                <a:srgbClr val="ECEBE7"/>
              </a:solidFill>
            </a:ln>
          </c:spPr>
        </c:majorGridlines>
        <c:majorTickMark val="out"/>
        <c:minorTickMark val="none"/>
        <c:tickLblPos val="nextTo"/>
        <c:spPr>
          <a:ln>
            <a:noFill/>
          </a:ln>
        </c:spPr>
        <c:txPr>
          <a:bodyPr/>
          <a:lstStyle/>
          <a:p>
            <a:pPr>
              <a:defRPr sz="1100">
                <a:solidFill>
                  <a:srgbClr val="8A8984"/>
                </a:solidFill>
              </a:defRPr>
            </a:pPr>
          </a:p>
        </c:txPr>
        <c:crossAx val="-2068027336"/>
        <c:crosses val="autoZero"/>
        <c:majorUnit val="1.0"/>
      </c:valAx>
    </c:plotArea>
    <c:legend>
      <c:legendPos val="b"/>
      <c:overlay val="0"/>
      <c:txPr>
        <a:bodyPr/>
        <a:lstStyle/>
        <a:p>
          <a:pPr>
            <a:defRPr sz="1300"/>
          </a:pPr>
        </a:p>
      </c:txPr>
    </c:legend>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pPr>
              <a:spcAft>
                <a:spcPts val="600"/>
              </a:spcAft>
            </a:pPr>
            <a:r>
              <a:rPr sz="1200" b="0" i="0">
                <a:solidFill>
                  <a:srgbClr val="8A8984"/>
                </a:solidFill>
                <a:latin typeface="Arial"/>
              </a:rPr>
              <a:t>EVIDENCE BRIEFING · 2026-10-08 17:14 UTC</a:t>
            </a:r>
          </a:p>
        </p:txBody>
      </p:sp>
      <p:sp>
        <p:nvSpPr>
          <p:cNvPr id="3" name="TextBox 2"/>
          <p:cNvSpPr txBox="1"/>
          <p:nvPr/>
        </p:nvSpPr>
        <p:spPr>
          <a:xfrm>
            <a:off x="548640" y="594360"/>
            <a:ext cx="11064240" cy="822960"/>
          </a:xfrm>
          <a:prstGeom prst="rect">
            <a:avLst/>
          </a:prstGeom>
          <a:noFill/>
        </p:spPr>
        <p:txBody>
          <a:bodyPr wrap="square">
            <a:spAutoFit/>
          </a:bodyPr>
          <a:lstStyle/>
          <a:p>
            <a:pPr>
              <a:spcAft>
                <a:spcPts val="600"/>
              </a:spcAft>
            </a:pPr>
            <a:r>
              <a:rPr sz="3000" b="1" i="0">
                <a:solidFill>
                  <a:srgbClr val="0B0B0B"/>
                </a:solidFill>
                <a:latin typeface="Arial"/>
              </a:rPr>
              <a:t>NSMPA evidence snapshot, 8 October 2026</a:t>
            </a:r>
          </a:p>
        </p:txBody>
      </p:sp>
      <p:sp>
        <p:nvSpPr>
          <p:cNvPr id="4" name="TextBox 3"/>
          <p:cNvSpPr txBox="1"/>
          <p:nvPr/>
        </p:nvSpPr>
        <p:spPr>
          <a:xfrm>
            <a:off x="548640" y="2011680"/>
            <a:ext cx="10972800" cy="2286000"/>
          </a:xfrm>
          <a:prstGeom prst="rect">
            <a:avLst/>
          </a:prstGeom>
          <a:noFill/>
        </p:spPr>
        <p:txBody>
          <a:bodyPr wrap="square">
            <a:spAutoFit/>
          </a:bodyPr>
          <a:lstStyle/>
          <a:p>
            <a:pPr>
              <a:spcAft>
                <a:spcPts val="600"/>
              </a:spcAft>
            </a:pPr>
            <a:r>
              <a:rPr sz="2000" b="0" i="0">
                <a:solidFill>
                  <a:srgbClr val="52514E"/>
                </a:solidFill>
                <a:latin typeface="Arial"/>
              </a:rPr>
              <a:t>How U.S. journalism organizations handle requests to de-index, anonymize, update or remove truthful archived reporting after circumstances change.</a:t>
            </a:r>
          </a:p>
          <a:p>
            <a:pPr>
              <a:spcAft>
                <a:spcPts val="600"/>
              </a:spcAft>
            </a:pPr>
            <a:r>
              <a:rPr sz="2000" b="0" i="0">
                <a:solidFill>
                  <a:srgbClr val="52514E"/>
                </a:solidFill>
                <a:latin typeface="Arial"/>
              </a:rPr>
              <a:t>Every statement in this deck is drawn from a source listed in the accompanying workbook, with its URL, fetch time and page hash.</a:t>
            </a:r>
          </a:p>
        </p:txBody>
      </p:sp>
      <p:sp>
        <p:nvSpPr>
          <p:cNvPr id="5" name="TextBox 4"/>
          <p:cNvSpPr txBox="1"/>
          <p:nvPr/>
        </p:nvSpPr>
        <p:spPr>
          <a:xfrm>
            <a:off x="548640" y="6263640"/>
            <a:ext cx="11064240" cy="365760"/>
          </a:xfrm>
          <a:prstGeom prst="rect">
            <a:avLst/>
          </a:prstGeom>
          <a:noFill/>
        </p:spPr>
        <p:txBody>
          <a:bodyPr wrap="square">
            <a:spAutoFit/>
          </a:bodyPr>
          <a:lstStyle/>
          <a:p>
            <a:pPr>
              <a:spcAft>
                <a:spcPts val="600"/>
              </a:spcAft>
            </a:pPr>
            <a:r>
              <a:rPr sz="1000" b="0" i="0">
                <a:solidFill>
                  <a:srgbClr val="8A8984"/>
                </a:solidFill>
                <a:latin typeface="Arial"/>
              </a:rPr>
              <a:t>Prepared with NSMPA 0.7.2 · scope: latest stance per entity (excluded runs omitted) · names of private individuals withheld (automated redaction)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pPr>
              <a:spcAft>
                <a:spcPts val="600"/>
              </a:spcAft>
            </a:pPr>
            <a:r>
              <a:rPr sz="1200" b="0" i="0">
                <a:solidFill>
                  <a:srgbClr val="8A8984"/>
                </a:solidFill>
                <a:latin typeface="Arial"/>
              </a:rPr>
              <a:t>CASE PROFILE</a:t>
            </a:r>
          </a:p>
        </p:txBody>
      </p:sp>
      <p:sp>
        <p:nvSpPr>
          <p:cNvPr id="3" name="TextBox 2"/>
          <p:cNvSpPr txBox="1"/>
          <p:nvPr/>
        </p:nvSpPr>
        <p:spPr>
          <a:xfrm>
            <a:off x="548640" y="594360"/>
            <a:ext cx="11064240" cy="822960"/>
          </a:xfrm>
          <a:prstGeom prst="rect">
            <a:avLst/>
          </a:prstGeom>
          <a:noFill/>
        </p:spPr>
        <p:txBody>
          <a:bodyPr wrap="square">
            <a:spAutoFit/>
          </a:bodyPr>
          <a:lstStyle/>
          <a:p>
            <a:pPr>
              <a:spcAft>
                <a:spcPts val="600"/>
              </a:spcAft>
            </a:pPr>
            <a:r>
              <a:rPr sz="3000" b="1" i="0">
                <a:solidFill>
                  <a:srgbClr val="0B0B0B"/>
                </a:solidFill>
                <a:latin typeface="Arial"/>
              </a:rPr>
              <a:t>The situation this evidence is matched against</a:t>
            </a:r>
          </a:p>
        </p:txBody>
      </p:sp>
      <p:sp>
        <p:nvSpPr>
          <p:cNvPr id="4" name="TextBox 3"/>
          <p:cNvSpPr txBox="1"/>
          <p:nvPr/>
        </p:nvSpPr>
        <p:spPr>
          <a:xfrm>
            <a:off x="548640" y="1645920"/>
            <a:ext cx="5669280" cy="4389120"/>
          </a:xfrm>
          <a:prstGeom prst="rect">
            <a:avLst/>
          </a:prstGeom>
          <a:noFill/>
        </p:spPr>
        <p:txBody>
          <a:bodyPr wrap="square">
            <a:spAutoFit/>
          </a:bodyPr>
          <a:lstStyle/>
          <a:p>
            <a:pPr>
              <a:spcAft>
                <a:spcPts val="600"/>
              </a:spcAft>
            </a:pPr>
            <a:r>
              <a:rPr sz="1800" b="1" i="0">
                <a:solidFill>
                  <a:srgbClr val="0B0B0B"/>
                </a:solidFill>
                <a:latin typeface="Arial"/>
              </a:rPr>
              <a:t>Facts:</a:t>
            </a:r>
          </a:p>
          <a:p>
            <a:pPr>
              <a:spcAft>
                <a:spcPts val="600"/>
              </a:spcAft>
            </a:pPr>
            <a:r>
              <a:rPr sz="1800" b="0" i="0">
                <a:solidFill>
                  <a:srgbClr val="0B0B0B"/>
                </a:solidFill>
                <a:latin typeface="Arial"/>
              </a:rPr>
              <a:t>• Student / university setting</a:t>
            </a:r>
          </a:p>
          <a:p>
            <a:pPr>
              <a:spcAft>
                <a:spcPts val="600"/>
              </a:spcAft>
            </a:pPr>
            <a:r>
              <a:rPr sz="1800" b="0" i="0">
                <a:solidFill>
                  <a:srgbClr val="0B0B0B"/>
                </a:solidFill>
                <a:latin typeface="Arial"/>
              </a:rPr>
              <a:t>• Criminal allegation or arrest</a:t>
            </a:r>
          </a:p>
          <a:p>
            <a:pPr>
              <a:spcAft>
                <a:spcPts val="600"/>
              </a:spcAft>
            </a:pPr>
            <a:r>
              <a:rPr sz="1800" b="0" i="0">
                <a:solidFill>
                  <a:srgbClr val="0B0B0B"/>
                </a:solidFill>
                <a:latin typeface="Arial"/>
              </a:rPr>
              <a:t>• Charges dismissed or dropped</a:t>
            </a:r>
          </a:p>
          <a:p>
            <a:pPr>
              <a:spcAft>
                <a:spcPts val="600"/>
              </a:spcAft>
            </a:pPr>
            <a:r>
              <a:rPr sz="1800" b="0" i="0">
                <a:solidFill>
                  <a:srgbClr val="0B0B0B"/>
                </a:solidFill>
                <a:latin typeface="Arial"/>
              </a:rPr>
              <a:t>• Substantial time has passed</a:t>
            </a:r>
          </a:p>
          <a:p>
            <a:pPr>
              <a:spcAft>
                <a:spcPts val="600"/>
              </a:spcAft>
            </a:pPr>
            <a:r>
              <a:rPr sz="1800" b="0" i="0">
                <a:solidFill>
                  <a:srgbClr val="0B0B0B"/>
                </a:solidFill>
                <a:latin typeface="Arial"/>
              </a:rPr>
              <a:t>• Private individual, no public role</a:t>
            </a:r>
          </a:p>
          <a:p>
            <a:pPr>
              <a:spcAft>
                <a:spcPts val="600"/>
              </a:spcAft>
            </a:pPr>
            <a:r>
              <a:rPr sz="1800" b="0" i="0">
                <a:solidFill>
                  <a:srgbClr val="0B0B0B"/>
                </a:solidFill>
                <a:latin typeface="Arial"/>
              </a:rPr>
              <a:t>• Article surfaces prominently in name searches</a:t>
            </a:r>
          </a:p>
          <a:p>
            <a:pPr>
              <a:spcAft>
                <a:spcPts val="600"/>
              </a:spcAft>
            </a:pPr>
            <a:r>
              <a:rPr sz="1800" b="0" i="0">
                <a:solidFill>
                  <a:srgbClr val="0B0B0B"/>
                </a:solidFill>
                <a:latin typeface="Arial"/>
              </a:rPr>
              <a:t>• Continuing reputational harm</a:t>
            </a:r>
          </a:p>
        </p:txBody>
      </p:sp>
      <p:sp>
        <p:nvSpPr>
          <p:cNvPr id="5" name="TextBox 4"/>
          <p:cNvSpPr txBox="1"/>
          <p:nvPr/>
        </p:nvSpPr>
        <p:spPr>
          <a:xfrm>
            <a:off x="6400800" y="1645920"/>
            <a:ext cx="5212080" cy="4389120"/>
          </a:xfrm>
          <a:prstGeom prst="rect">
            <a:avLst/>
          </a:prstGeom>
          <a:noFill/>
        </p:spPr>
        <p:txBody>
          <a:bodyPr wrap="square">
            <a:spAutoFit/>
          </a:bodyPr>
          <a:lstStyle/>
          <a:p>
            <a:pPr>
              <a:spcAft>
                <a:spcPts val="600"/>
              </a:spcAft>
            </a:pPr>
            <a:r>
              <a:rPr sz="1800" b="1" i="0">
                <a:solidFill>
                  <a:srgbClr val="0B0B0B"/>
                </a:solidFill>
                <a:latin typeface="Arial"/>
              </a:rPr>
              <a:t>Relief requested:</a:t>
            </a:r>
          </a:p>
          <a:p>
            <a:pPr>
              <a:spcAft>
                <a:spcPts val="600"/>
              </a:spcAft>
            </a:pPr>
            <a:r>
              <a:rPr sz="1800" b="0" i="0">
                <a:solidFill>
                  <a:srgbClr val="0B0B0B"/>
                </a:solidFill>
                <a:latin typeface="Arial"/>
              </a:rPr>
              <a:t>• deindex</a:t>
            </a:r>
          </a:p>
        </p:txBody>
      </p:sp>
      <p:sp>
        <p:nvSpPr>
          <p:cNvPr id="6" name="TextBox 5"/>
          <p:cNvSpPr txBox="1"/>
          <p:nvPr/>
        </p:nvSpPr>
        <p:spPr>
          <a:xfrm>
            <a:off x="548640" y="6263640"/>
            <a:ext cx="11064240" cy="365760"/>
          </a:xfrm>
          <a:prstGeom prst="rect">
            <a:avLst/>
          </a:prstGeom>
          <a:noFill/>
        </p:spPr>
        <p:txBody>
          <a:bodyPr wrap="square">
            <a:spAutoFit/>
          </a:bodyPr>
          <a:lstStyle/>
          <a:p>
            <a:pPr>
              <a:spcAft>
                <a:spcPts val="600"/>
              </a:spcAft>
            </a:pPr>
            <a:r>
              <a:rPr sz="1000" b="0" i="0">
                <a:solidFill>
                  <a:srgbClr val="8A8984"/>
                </a:solidFill>
                <a:latin typeface="Arial"/>
              </a:rPr>
              <a:t>Default profile — edit my_case.yml to describe the actual case before presenting.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pPr>
              <a:spcAft>
                <a:spcPts val="600"/>
              </a:spcAft>
            </a:pPr>
            <a:r>
              <a:rPr sz="1200" b="0" i="0">
                <a:solidFill>
                  <a:srgbClr val="8A8984"/>
                </a:solidFill>
                <a:latin typeface="Arial"/>
              </a:rPr>
              <a:t>METHOD</a:t>
            </a:r>
          </a:p>
        </p:txBody>
      </p:sp>
      <p:sp>
        <p:nvSpPr>
          <p:cNvPr id="3" name="TextBox 2"/>
          <p:cNvSpPr txBox="1"/>
          <p:nvPr/>
        </p:nvSpPr>
        <p:spPr>
          <a:xfrm>
            <a:off x="548640" y="594360"/>
            <a:ext cx="11064240" cy="822960"/>
          </a:xfrm>
          <a:prstGeom prst="rect">
            <a:avLst/>
          </a:prstGeom>
          <a:noFill/>
        </p:spPr>
        <p:txBody>
          <a:bodyPr wrap="square">
            <a:spAutoFit/>
          </a:bodyPr>
          <a:lstStyle/>
          <a:p>
            <a:pPr>
              <a:spcAft>
                <a:spcPts val="600"/>
              </a:spcAft>
            </a:pPr>
            <a:r>
              <a:rPr sz="3000" b="1" i="0">
                <a:solidFill>
                  <a:srgbClr val="0B0B0B"/>
                </a:solidFill>
                <a:latin typeface="Arial"/>
              </a:rPr>
              <a:t>How the evidence was gathered</a:t>
            </a:r>
          </a:p>
        </p:txBody>
      </p:sp>
      <p:sp>
        <p:nvSpPr>
          <p:cNvPr id="4" name="TextBox 3"/>
          <p:cNvSpPr txBox="1"/>
          <p:nvPr/>
        </p:nvSpPr>
        <p:spPr>
          <a:xfrm>
            <a:off x="548640" y="1645920"/>
            <a:ext cx="11064240" cy="4480560"/>
          </a:xfrm>
          <a:prstGeom prst="rect">
            <a:avLst/>
          </a:prstGeom>
          <a:noFill/>
        </p:spPr>
        <p:txBody>
          <a:bodyPr wrap="square">
            <a:spAutoFit/>
          </a:bodyPr>
          <a:lstStyle/>
          <a:p>
            <a:pPr>
              <a:spcAft>
                <a:spcPts val="600"/>
              </a:spcAft>
            </a:pPr>
            <a:r>
              <a:rPr sz="1800" b="0" i="0">
                <a:solidFill>
                  <a:srgbClr val="0B0B0B"/>
                </a:solidFill>
                <a:latin typeface="Arial"/>
              </a:rPr>
              <a:t>• Three separate groups, never pooled: student newspapers (IPEDS four-year institutions), professional newsrooms, and journalism standards / legal / ethics organizations.</a:t>
            </a:r>
          </a:p>
          <a:p>
            <a:pPr>
              <a:spcAft>
                <a:spcPts val="600"/>
              </a:spcAft>
            </a:pPr>
            <a:r>
              <a:rPr sz="1800" b="0" i="0">
                <a:solidFill>
                  <a:srgbClr val="0B0B0B"/>
                </a:solidFill>
                <a:latin typeface="Arial"/>
              </a:rPr>
              <a:t>• Each organization's own site was searched and read for written policy; its archive was sampled for what it actually did (editor's notes, name removals, noindex tags on old crime stories).</a:t>
            </a:r>
          </a:p>
          <a:p>
            <a:pPr>
              <a:spcAft>
                <a:spcPts val="600"/>
              </a:spcAft>
            </a:pPr>
            <a:r>
              <a:rPr sz="1800" b="0" i="0">
                <a:solidFill>
                  <a:srgbClr val="0B0B0B"/>
                </a:solidFill>
                <a:latin typeface="Arial"/>
              </a:rPr>
              <a:t>• Supportive and opposing language were searched for with equal effort; opposing evidence is reported in full.</a:t>
            </a:r>
          </a:p>
          <a:p>
            <a:pPr>
              <a:spcAft>
                <a:spcPts val="600"/>
              </a:spcAft>
            </a:pPr>
            <a:r>
              <a:rPr sz="1800" b="0" i="0">
                <a:solidFill>
                  <a:srgbClr val="0B0B0B"/>
                </a:solidFill>
                <a:latin typeface="Arial"/>
              </a:rPr>
              <a:t>• Sites that could not be inspected are 'undetermined', never counted as 'no policy'.</a:t>
            </a:r>
          </a:p>
          <a:p>
            <a:pPr>
              <a:spcAft>
                <a:spcPts val="600"/>
              </a:spcAft>
            </a:pPr>
            <a:r>
              <a:rPr sz="1800" b="0" i="0">
                <a:solidFill>
                  <a:srgbClr val="0B0B0B"/>
                </a:solidFill>
                <a:latin typeface="Arial"/>
              </a:rPr>
              <a:t>• Every excerpt is stored with its URL, fetch time and SHA-256 hash; snapshots are kept unchanged.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pPr>
              <a:spcAft>
                <a:spcPts val="600"/>
              </a:spcAft>
            </a:pPr>
            <a:r>
              <a:rPr sz="1200" b="0" i="0">
                <a:solidFill>
                  <a:srgbClr val="8A8984"/>
                </a:solidFill>
                <a:latin typeface="Arial"/>
              </a:rPr>
              <a:t>WHICH KIND OF RELIEF, BY GROUP</a:t>
            </a:r>
          </a:p>
        </p:txBody>
      </p:sp>
      <p:sp>
        <p:nvSpPr>
          <p:cNvPr id="3" name="TextBox 2"/>
          <p:cNvSpPr txBox="1"/>
          <p:nvPr/>
        </p:nvSpPr>
        <p:spPr>
          <a:xfrm>
            <a:off x="548640" y="594360"/>
            <a:ext cx="11064240" cy="822960"/>
          </a:xfrm>
          <a:prstGeom prst="rect">
            <a:avLst/>
          </a:prstGeom>
          <a:noFill/>
        </p:spPr>
        <p:txBody>
          <a:bodyPr wrap="square">
            <a:spAutoFit/>
          </a:bodyPr>
          <a:lstStyle/>
          <a:p>
            <a:pPr>
              <a:spcAft>
                <a:spcPts val="600"/>
              </a:spcAft>
            </a:pPr>
            <a:r>
              <a:rPr sz="3000" b="1" i="0">
                <a:solidFill>
                  <a:srgbClr val="0B0B0B"/>
                </a:solidFill>
                <a:latin typeface="Arial"/>
              </a:rPr>
              <a:t>De-indexing and anonymization vs. unpublishing</a:t>
            </a:r>
          </a:p>
        </p:txBody>
      </p:sp>
      <p:graphicFrame>
        <p:nvGraphicFramePr>
          <p:cNvPr id="4" name="Chart 3"/>
          <p:cNvGraphicFramePr>
            <a:graphicFrameLocks noGrp="1"/>
          </p:cNvGraphicFramePr>
          <p:nvPr/>
        </p:nvGraphicFramePr>
        <p:xfrm>
          <a:off x="548640" y="1554480"/>
          <a:ext cx="7680960" cy="4480560"/>
        </p:xfrm>
        <a:graphic>
          <a:graphicData uri="http://schemas.openxmlformats.org/drawingml/2006/chart">
            <c:chart xmlns:c="http://schemas.openxmlformats.org/drawingml/2006/chart" r:id="rId2"/>
          </a:graphicData>
        </a:graphic>
      </p:graphicFrame>
      <p:sp>
        <p:nvSpPr>
          <p:cNvPr id="5" name="TextBox 4"/>
          <p:cNvSpPr txBox="1"/>
          <p:nvPr/>
        </p:nvSpPr>
        <p:spPr>
          <a:xfrm>
            <a:off x="8412480" y="1645920"/>
            <a:ext cx="3291840" cy="4389120"/>
          </a:xfrm>
          <a:prstGeom prst="rect">
            <a:avLst/>
          </a:prstGeom>
          <a:noFill/>
        </p:spPr>
        <p:txBody>
          <a:bodyPr wrap="square">
            <a:spAutoFit/>
          </a:bodyPr>
          <a:lstStyle/>
          <a:p>
            <a:pPr>
              <a:spcAft>
                <a:spcPts val="600"/>
              </a:spcAft>
            </a:pPr>
            <a:r>
              <a:rPr sz="1300" b="0" i="0">
                <a:solidFill>
                  <a:srgbClr val="52514E"/>
                </a:solidFill>
                <a:latin typeface="Arial"/>
              </a:rPr>
              <a:t>Student media: 6 researched (preliminary — counts only); 1 allow relief that keeps the archive; 1 reject unpublishing.</a:t>
            </a:r>
          </a:p>
          <a:p>
            <a:pPr>
              <a:spcAft>
                <a:spcPts val="600"/>
              </a:spcAft>
            </a:pPr>
            <a:r>
              <a:rPr sz="1300" b="0" i="0">
                <a:solidFill>
                  <a:srgbClr val="52514E"/>
                </a:solidFill>
                <a:latin typeface="Arial"/>
              </a:rPr>
              <a:t>Professional newsrooms: 6 researched (preliminary — counts only); 4 allow relief that keeps the archive; 0 reject unpublishing.</a:t>
            </a:r>
          </a:p>
          <a:p>
            <a:pPr>
              <a:spcAft>
                <a:spcPts val="600"/>
              </a:spcAft>
            </a:pPr>
            <a:r>
              <a:rPr sz="1300" b="0" i="0">
                <a:solidFill>
                  <a:srgbClr val="52514E"/>
                </a:solidFill>
                <a:latin typeface="Arial"/>
              </a:rPr>
              <a:t>Standards &amp; support orgs: 1 researched (preliminary — counts only); 0 allow relief that keeps the archive; 0 reject unpublishing.</a:t>
            </a:r>
          </a:p>
        </p:txBody>
      </p:sp>
      <p:sp>
        <p:nvSpPr>
          <p:cNvPr id="6" name="TextBox 5"/>
          <p:cNvSpPr txBox="1"/>
          <p:nvPr/>
        </p:nvSpPr>
        <p:spPr>
          <a:xfrm>
            <a:off x="548640" y="6263640"/>
            <a:ext cx="11064240" cy="365760"/>
          </a:xfrm>
          <a:prstGeom prst="rect">
            <a:avLst/>
          </a:prstGeom>
          <a:noFill/>
        </p:spPr>
        <p:txBody>
          <a:bodyPr wrap="square">
            <a:spAutoFit/>
          </a:bodyPr>
          <a:lstStyle/>
          <a:p>
            <a:pPr>
              <a:spcAft>
                <a:spcPts val="600"/>
              </a:spcAft>
            </a:pPr>
            <a:r>
              <a:rPr sz="1000" b="0" i="0">
                <a:solidFill>
                  <a:srgbClr val="8A8984"/>
                </a:solidFill>
                <a:latin typeface="Arial"/>
              </a:rPr>
              <a:t>Counts of organizations. Source rows: workbook sheet 'De-index vs Unpublish'.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pPr>
              <a:spcAft>
                <a:spcPts val="600"/>
              </a:spcAft>
            </a:pPr>
            <a:r>
              <a:rPr sz="1200" b="0" i="0">
                <a:solidFill>
                  <a:srgbClr val="8A8984"/>
                </a:solidFill>
                <a:latin typeface="Arial"/>
              </a:rPr>
              <a:t>OVERALL POSITION BY GROUP</a:t>
            </a:r>
          </a:p>
        </p:txBody>
      </p:sp>
      <p:sp>
        <p:nvSpPr>
          <p:cNvPr id="3" name="TextBox 2"/>
          <p:cNvSpPr txBox="1"/>
          <p:nvPr/>
        </p:nvSpPr>
        <p:spPr>
          <a:xfrm>
            <a:off x="548640" y="594360"/>
            <a:ext cx="11064240" cy="822960"/>
          </a:xfrm>
          <a:prstGeom prst="rect">
            <a:avLst/>
          </a:prstGeom>
          <a:noFill/>
        </p:spPr>
        <p:txBody>
          <a:bodyPr wrap="square">
            <a:spAutoFit/>
          </a:bodyPr>
          <a:lstStyle/>
          <a:p>
            <a:pPr>
              <a:spcAft>
                <a:spcPts val="600"/>
              </a:spcAft>
            </a:pPr>
            <a:r>
              <a:rPr sz="3000" b="1" i="0">
                <a:solidFill>
                  <a:srgbClr val="0B0B0B"/>
                </a:solidFill>
                <a:latin typeface="Arial"/>
              </a:rPr>
              <a:t>Where each group stands</a:t>
            </a:r>
          </a:p>
        </p:txBody>
      </p:sp>
      <p:graphicFrame>
        <p:nvGraphicFramePr>
          <p:cNvPr id="4" name="Chart 3"/>
          <p:cNvGraphicFramePr>
            <a:graphicFrameLocks noGrp="1"/>
          </p:cNvGraphicFramePr>
          <p:nvPr/>
        </p:nvGraphicFramePr>
        <p:xfrm>
          <a:off x="548640" y="1554480"/>
          <a:ext cx="11064240" cy="4480560"/>
        </p:xfrm>
        <a:graphic>
          <a:graphicData uri="http://schemas.openxmlformats.org/drawingml/2006/chart">
            <c:chart xmlns:c="http://schemas.openxmlformats.org/drawingml/2006/chart" r:id="rId2"/>
          </a:graphicData>
        </a:graphic>
      </p:graphicFrame>
      <p:sp>
        <p:nvSpPr>
          <p:cNvPr id="5" name="TextBox 4"/>
          <p:cNvSpPr txBox="1"/>
          <p:nvPr/>
        </p:nvSpPr>
        <p:spPr>
          <a:xfrm>
            <a:off x="548640" y="6263640"/>
            <a:ext cx="11064240" cy="365760"/>
          </a:xfrm>
          <a:prstGeom prst="rect">
            <a:avLst/>
          </a:prstGeom>
          <a:noFill/>
        </p:spPr>
        <p:txBody>
          <a:bodyPr wrap="square">
            <a:spAutoFit/>
          </a:bodyPr>
          <a:lstStyle/>
          <a:p>
            <a:pPr>
              <a:spcAft>
                <a:spcPts val="600"/>
              </a:spcAft>
            </a:pPr>
            <a:r>
              <a:rPr sz="1000" b="0" i="0">
                <a:solidFill>
                  <a:srgbClr val="8A8984"/>
                </a:solidFill>
                <a:latin typeface="Arial"/>
              </a:rPr>
              <a:t>Each organization counted once, in its own group. 'Not addressed' includes organizations whose sites could not be fully inspected.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pPr>
              <a:spcAft>
                <a:spcPts val="600"/>
              </a:spcAft>
            </a:pPr>
            <a:r>
              <a:rPr sz="1200" b="0" i="0">
                <a:solidFill>
                  <a:srgbClr val="8A8984"/>
                </a:solidFill>
                <a:latin typeface="Arial"/>
              </a:rPr>
              <a:t>KNOWN INITIATIVES</a:t>
            </a:r>
          </a:p>
        </p:txBody>
      </p:sp>
      <p:sp>
        <p:nvSpPr>
          <p:cNvPr id="3" name="TextBox 2"/>
          <p:cNvSpPr txBox="1"/>
          <p:nvPr/>
        </p:nvSpPr>
        <p:spPr>
          <a:xfrm>
            <a:off x="548640" y="594360"/>
            <a:ext cx="11064240" cy="822960"/>
          </a:xfrm>
          <a:prstGeom prst="rect">
            <a:avLst/>
          </a:prstGeom>
          <a:noFill/>
        </p:spPr>
        <p:txBody>
          <a:bodyPr wrap="square">
            <a:spAutoFit/>
          </a:bodyPr>
          <a:lstStyle/>
          <a:p>
            <a:pPr>
              <a:spcAft>
                <a:spcPts val="600"/>
              </a:spcAft>
            </a:pPr>
            <a:r>
              <a:rPr sz="3000" b="1" i="0">
                <a:solidFill>
                  <a:srgbClr val="0B0B0B"/>
                </a:solidFill>
                <a:latin typeface="Arial"/>
              </a:rPr>
              <a:t>Named programs and precedents</a:t>
            </a:r>
          </a:p>
        </p:txBody>
      </p:sp>
      <p:graphicFrame>
        <p:nvGraphicFramePr>
          <p:cNvPr id="4" name="Table 3"/>
          <p:cNvGraphicFramePr>
            <a:graphicFrameLocks noGrp="1"/>
          </p:cNvGraphicFramePr>
          <p:nvPr/>
        </p:nvGraphicFramePr>
        <p:xfrm>
          <a:off x="548640" y="1554480"/>
          <a:ext cx="11064240" cy="4114800"/>
        </p:xfrm>
        <a:graphic>
          <a:graphicData uri="http://schemas.openxmlformats.org/drawingml/2006/table">
            <a:tbl>
              <a:tblPr firstRow="1" bandRow="1">
                <a:tableStyleId>{5C22544A-7EE6-4342-B048-85BDC9FD1C3A}</a:tableStyleId>
              </a:tblPr>
              <a:tblGrid>
                <a:gridCol w="2377440"/>
                <a:gridCol w="3108960"/>
                <a:gridCol w="822960"/>
                <a:gridCol w="4754880"/>
              </a:tblGrid>
              <a:tr h="457200">
                <a:tc>
                  <a:txBody>
                    <a:bodyPr/>
                    <a:lstStyle/>
                    <a:p>
                      <a:r>
                        <a:t>Organization</a:t>
                      </a:r>
                    </a:p>
                  </a:txBody>
                  <a:tcPr/>
                </a:tc>
                <a:tc>
                  <a:txBody>
                    <a:bodyPr/>
                    <a:lstStyle/>
                    <a:p>
                      <a:r>
                        <a:t>Program / document</a:t>
                      </a:r>
                    </a:p>
                  </a:txBody>
                  <a:tcPr/>
                </a:tc>
                <a:tc>
                  <a:txBody>
                    <a:bodyPr/>
                    <a:lstStyle/>
                    <a:p>
                      <a:r>
                        <a:t>Year</a:t>
                      </a:r>
                    </a:p>
                  </a:txBody>
                  <a:tcPr/>
                </a:tc>
                <a:tc>
                  <a:txBody>
                    <a:bodyPr/>
                    <a:lstStyle/>
                    <a:p>
                      <a:r>
                        <a:t>Status</a:t>
                      </a:r>
                    </a:p>
                  </a:txBody>
                  <a:tcPr/>
                </a:tc>
              </a:tr>
              <a:tr h="457200">
                <a:tc>
                  <a:txBody>
                    <a:bodyPr/>
                    <a:lstStyle/>
                    <a:p>
                      <a:r>
                        <a:rPr sz="1300"/>
                        <a:t>Associated Press</a:t>
                      </a:r>
                    </a:p>
                  </a:txBody>
                  <a:tcPr/>
                </a:tc>
                <a:tc>
                  <a:txBody>
                    <a:bodyPr/>
                    <a:lstStyle/>
                    <a:p>
                      <a:r>
                        <a:rPr sz="1300"/>
                        <a:t>Direct de-indexing policy</a:t>
                      </a:r>
                    </a:p>
                  </a:txBody>
                  <a:tcPr/>
                </a:tc>
                <a:tc>
                  <a:txBody>
                    <a:bodyPr/>
                    <a:lstStyle/>
                    <a:p/>
                  </a:txBody>
                  <a:tcPr/>
                </a:tc>
                <a:tc>
                  <a:txBody>
                    <a:bodyPr/>
                    <a:lstStyle/>
                    <a:p>
                      <a:r>
                        <a:rPr sz="1300"/>
                        <a:t>UNVERIFIED — confirm against source before quoting</a:t>
                      </a:r>
                    </a:p>
                  </a:txBody>
                  <a:tcPr/>
                </a:tc>
              </a:tr>
              <a:tr h="457200">
                <a:tc>
                  <a:txBody>
                    <a:bodyPr/>
                    <a:lstStyle/>
                    <a:p>
                      <a:r>
                        <a:rPr sz="1300"/>
                        <a:t>Atlanta Journal-Constitution</a:t>
                      </a:r>
                    </a:p>
                  </a:txBody>
                  <a:tcPr/>
                </a:tc>
                <a:tc>
                  <a:txBody>
                    <a:bodyPr/>
                    <a:lstStyle/>
                    <a:p>
                      <a:r>
                        <a:rPr sz="1300"/>
                        <a:t>Search-suppression review</a:t>
                      </a:r>
                    </a:p>
                  </a:txBody>
                  <a:tcPr/>
                </a:tc>
                <a:tc>
                  <a:txBody>
                    <a:bodyPr/>
                    <a:lstStyle/>
                    <a:p/>
                  </a:txBody>
                  <a:tcPr/>
                </a:tc>
                <a:tc>
                  <a:txBody>
                    <a:bodyPr/>
                    <a:lstStyle/>
                    <a:p>
                      <a:r>
                        <a:rPr sz="1300"/>
                        <a:t>UNVERIFIED — confirm against source before quoting</a:t>
                      </a:r>
                    </a:p>
                  </a:txBody>
                  <a:tcPr/>
                </a:tc>
              </a:tr>
              <a:tr h="457200">
                <a:tc>
                  <a:txBody>
                    <a:bodyPr/>
                    <a:lstStyle/>
                    <a:p>
                      <a:r>
                        <a:rPr sz="1300"/>
                        <a:t>Bangor Daily News</a:t>
                      </a:r>
                    </a:p>
                  </a:txBody>
                  <a:tcPr/>
                </a:tc>
                <a:tc>
                  <a:txBody>
                    <a:bodyPr/>
                    <a:lstStyle/>
                    <a:p>
                      <a:r>
                        <a:rPr sz="1300"/>
                        <a:t>Direct de-indexing policy</a:t>
                      </a:r>
                    </a:p>
                  </a:txBody>
                  <a:tcPr/>
                </a:tc>
                <a:tc>
                  <a:txBody>
                    <a:bodyPr/>
                    <a:lstStyle/>
                    <a:p/>
                  </a:txBody>
                  <a:tcPr/>
                </a:tc>
                <a:tc>
                  <a:txBody>
                    <a:bodyPr/>
                    <a:lstStyle/>
                    <a:p>
                      <a:r>
                        <a:rPr sz="1300"/>
                        <a:t>UNVERIFIED — confirm against source before quoting</a:t>
                      </a:r>
                    </a:p>
                  </a:txBody>
                  <a:tcPr/>
                </a:tc>
              </a:tr>
              <a:tr h="457200">
                <a:tc>
                  <a:txBody>
                    <a:bodyPr/>
                    <a:lstStyle/>
                    <a:p>
                      <a:r>
                        <a:rPr sz="1300"/>
                        <a:t>Boston.com</a:t>
                      </a:r>
                    </a:p>
                  </a:txBody>
                  <a:tcPr/>
                </a:tc>
                <a:tc>
                  <a:txBody>
                    <a:bodyPr/>
                    <a:lstStyle/>
                    <a:p>
                      <a:r>
                        <a:rPr sz="1300"/>
                        <a:t>Direct de-indexing policy</a:t>
                      </a:r>
                    </a:p>
                  </a:txBody>
                  <a:tcPr/>
                </a:tc>
                <a:tc>
                  <a:txBody>
                    <a:bodyPr/>
                    <a:lstStyle/>
                    <a:p/>
                  </a:txBody>
                  <a:tcPr/>
                </a:tc>
                <a:tc>
                  <a:txBody>
                    <a:bodyPr/>
                    <a:lstStyle/>
                    <a:p>
                      <a:r>
                        <a:rPr sz="1300"/>
                        <a:t>UNVERIFIED — confirm against source before quoting</a:t>
                      </a:r>
                    </a:p>
                  </a:txBody>
                  <a:tcPr/>
                </a:tc>
              </a:tr>
              <a:tr h="457200">
                <a:tc>
                  <a:txBody>
                    <a:bodyPr/>
                    <a:lstStyle/>
                    <a:p>
                      <a:r>
                        <a:rPr sz="1300"/>
                        <a:t>Chicago Sun-Times</a:t>
                      </a:r>
                    </a:p>
                  </a:txBody>
                  <a:tcPr/>
                </a:tc>
                <a:tc>
                  <a:txBody>
                    <a:bodyPr/>
                    <a:lstStyle/>
                    <a:p>
                      <a:r>
                        <a:rPr sz="1300"/>
                        <a:t>Direct de-indexing policy</a:t>
                      </a:r>
                    </a:p>
                  </a:txBody>
                  <a:tcPr/>
                </a:tc>
                <a:tc>
                  <a:txBody>
                    <a:bodyPr/>
                    <a:lstStyle/>
                    <a:p/>
                  </a:txBody>
                  <a:tcPr/>
                </a:tc>
                <a:tc>
                  <a:txBody>
                    <a:bodyPr/>
                    <a:lstStyle/>
                    <a:p>
                      <a:r>
                        <a:rPr sz="1300"/>
                        <a:t>UNVERIFIED — confirm against source before quoting</a:t>
                      </a:r>
                    </a:p>
                  </a:txBody>
                  <a:tcPr/>
                </a:tc>
              </a:tr>
              <a:tr h="457200">
                <a:tc>
                  <a:txBody>
                    <a:bodyPr/>
                    <a:lstStyle/>
                    <a:p>
                      <a:r>
                        <a:rPr sz="1300"/>
                        <a:t>cleveland.com</a:t>
                      </a:r>
                    </a:p>
                  </a:txBody>
                  <a:tcPr/>
                </a:tc>
                <a:tc>
                  <a:txBody>
                    <a:bodyPr/>
                    <a:lstStyle/>
                    <a:p>
                      <a:r>
                        <a:rPr sz="1300"/>
                        <a:t>Right-to-be-forgotten review</a:t>
                      </a:r>
                    </a:p>
                  </a:txBody>
                  <a:tcPr/>
                </a:tc>
                <a:tc>
                  <a:txBody>
                    <a:bodyPr/>
                    <a:lstStyle/>
                    <a:p/>
                  </a:txBody>
                  <a:tcPr/>
                </a:tc>
                <a:tc>
                  <a:txBody>
                    <a:bodyPr/>
                    <a:lstStyle/>
                    <a:p>
                      <a:r>
                        <a:rPr sz="1300"/>
                        <a:t>UNVERIFIED — confirm against source before quoting</a:t>
                      </a:r>
                    </a:p>
                  </a:txBody>
                  <a:tcPr/>
                </a:tc>
              </a:tr>
              <a:tr h="457200">
                <a:tc>
                  <a:txBody>
                    <a:bodyPr/>
                    <a:lstStyle/>
                    <a:p>
                      <a:r>
                        <a:rPr sz="1300"/>
                        <a:t>Lexington Herald-Leader</a:t>
                      </a:r>
                    </a:p>
                  </a:txBody>
                  <a:tcPr/>
                </a:tc>
                <a:tc>
                  <a:txBody>
                    <a:bodyPr/>
                    <a:lstStyle/>
                    <a:p>
                      <a:r>
                        <a:rPr sz="1300"/>
                        <a:t>Clean Slate / reviewed changes</a:t>
                      </a:r>
                    </a:p>
                  </a:txBody>
                  <a:tcPr/>
                </a:tc>
                <a:tc>
                  <a:txBody>
                    <a:bodyPr/>
                    <a:lstStyle/>
                    <a:p/>
                  </a:txBody>
                  <a:tcPr/>
                </a:tc>
                <a:tc>
                  <a:txBody>
                    <a:bodyPr/>
                    <a:lstStyle/>
                    <a:p>
                      <a:r>
                        <a:rPr sz="1300"/>
                        <a:t>UNVERIFIED — confirm against source before quoting</a:t>
                      </a:r>
                    </a:p>
                  </a:txBody>
                  <a:tcPr/>
                </a:tc>
              </a:tr>
              <a:tr h="457200">
                <a:tc>
                  <a:txBody>
                    <a:bodyPr/>
                    <a:lstStyle/>
                    <a:p>
                      <a:r>
                        <a:rPr sz="1300"/>
                        <a:t>NBC 4 New York</a:t>
                      </a:r>
                    </a:p>
                  </a:txBody>
                  <a:tcPr/>
                </a:tc>
                <a:tc>
                  <a:txBody>
                    <a:bodyPr/>
                    <a:lstStyle/>
                    <a:p>
                      <a:r>
                        <a:rPr sz="1300"/>
                        <a:t>Shared digital-removal standards</a:t>
                      </a:r>
                    </a:p>
                  </a:txBody>
                  <a:tcPr/>
                </a:tc>
                <a:tc>
                  <a:txBody>
                    <a:bodyPr/>
                    <a:lstStyle/>
                    <a:p/>
                  </a:txBody>
                  <a:tcPr/>
                </a:tc>
                <a:tc>
                  <a:txBody>
                    <a:bodyPr/>
                    <a:lstStyle/>
                    <a:p>
                      <a:r>
                        <a:rPr sz="1300"/>
                        <a:t>UNVERIFIED — confirm against source before quoting</a:t>
                      </a:r>
                    </a:p>
                  </a:txBody>
                  <a:tcPr/>
                </a:tc>
              </a:tr>
            </a:tbl>
          </a:graphicData>
        </a:graphic>
      </p:graphicFrame>
      <p:sp>
        <p:nvSpPr>
          <p:cNvPr id="5" name="TextBox 4"/>
          <p:cNvSpPr txBox="1"/>
          <p:nvPr/>
        </p:nvSpPr>
        <p:spPr>
          <a:xfrm>
            <a:off x="548640" y="6263640"/>
            <a:ext cx="11064240" cy="365760"/>
          </a:xfrm>
          <a:prstGeom prst="rect">
            <a:avLst/>
          </a:prstGeom>
          <a:noFill/>
        </p:spPr>
        <p:txBody>
          <a:bodyPr wrap="square">
            <a:spAutoFit/>
          </a:bodyPr>
          <a:lstStyle/>
          <a:p>
            <a:pPr>
              <a:spcAft>
                <a:spcPts val="600"/>
              </a:spcAft>
            </a:pPr>
            <a:r>
              <a:rPr sz="1000" b="0" i="0">
                <a:solidFill>
                  <a:srgbClr val="8A8984"/>
                </a:solidFill>
                <a:latin typeface="Arial"/>
              </a:rPr>
              <a:t>Workbook sheet 'Named Precedents' lists every lead, including those not found.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pPr>
              <a:spcAft>
                <a:spcPts val="600"/>
              </a:spcAft>
            </a:pPr>
            <a:r>
              <a:rPr sz="1200" b="0" i="0">
                <a:solidFill>
                  <a:srgbClr val="8A8984"/>
                </a:solidFill>
                <a:latin typeface="Arial"/>
              </a:rPr>
              <a:t>PRECEDENT 1 · PRECEDENT_CASE · MATCH TO CASE 58/100</a:t>
            </a:r>
          </a:p>
        </p:txBody>
      </p:sp>
      <p:sp>
        <p:nvSpPr>
          <p:cNvPr id="3" name="TextBox 2"/>
          <p:cNvSpPr txBox="1"/>
          <p:nvPr/>
        </p:nvSpPr>
        <p:spPr>
          <a:xfrm>
            <a:off x="548640" y="594360"/>
            <a:ext cx="11064240" cy="822960"/>
          </a:xfrm>
          <a:prstGeom prst="rect">
            <a:avLst/>
          </a:prstGeom>
          <a:noFill/>
        </p:spPr>
        <p:txBody>
          <a:bodyPr wrap="square">
            <a:spAutoFit/>
          </a:bodyPr>
          <a:lstStyle/>
          <a:p>
            <a:pPr>
              <a:spcAft>
                <a:spcPts val="600"/>
              </a:spcAft>
            </a:pPr>
            <a:r>
              <a:rPr sz="3000" b="1" i="0">
                <a:solidFill>
                  <a:srgbClr val="0B0B0B"/>
                </a:solidFill>
                <a:latin typeface="Arial"/>
              </a:rPr>
              <a:t>Associated Press — Direct de-indexing policy</a:t>
            </a:r>
          </a:p>
        </p:txBody>
      </p:sp>
      <p:sp>
        <p:nvSpPr>
          <p:cNvPr id="4" name="TextBox 3"/>
          <p:cNvSpPr txBox="1"/>
          <p:nvPr/>
        </p:nvSpPr>
        <p:spPr>
          <a:xfrm>
            <a:off x="822960" y="1737360"/>
            <a:ext cx="10515600" cy="2926080"/>
          </a:xfrm>
          <a:prstGeom prst="rect">
            <a:avLst/>
          </a:prstGeom>
          <a:noFill/>
        </p:spPr>
        <p:txBody>
          <a:bodyPr wrap="square">
            <a:spAutoFit/>
          </a:bodyPr>
          <a:lstStyle/>
          <a:p>
            <a:pPr>
              <a:spcAft>
                <a:spcPts val="600"/>
              </a:spcAft>
            </a:pPr>
            <a:r>
              <a:rPr sz="2200" b="0" i="1">
                <a:solidFill>
                  <a:srgbClr val="0B0B0B"/>
                </a:solidFill>
                <a:latin typeface="Arial"/>
              </a:rPr>
              <a:t>“In those cases, the AP would also request that Google “deindex” the stories, removing them from its search results.”</a:t>
            </a:r>
          </a:p>
        </p:txBody>
      </p:sp>
      <p:sp>
        <p:nvSpPr>
          <p:cNvPr id="5" name="TextBox 4"/>
          <p:cNvSpPr txBox="1"/>
          <p:nvPr/>
        </p:nvSpPr>
        <p:spPr>
          <a:xfrm>
            <a:off x="822960" y="4754880"/>
            <a:ext cx="10515600" cy="1280160"/>
          </a:xfrm>
          <a:prstGeom prst="rect">
            <a:avLst/>
          </a:prstGeom>
          <a:noFill/>
        </p:spPr>
        <p:txBody>
          <a:bodyPr wrap="square">
            <a:spAutoFit/>
          </a:bodyPr>
          <a:lstStyle/>
          <a:p>
            <a:pPr>
              <a:spcAft>
                <a:spcPts val="600"/>
              </a:spcAft>
            </a:pPr>
            <a:r>
              <a:rPr sz="1200" b="0" i="0">
                <a:solidFill>
                  <a:srgbClr val="52514E"/>
                </a:solidFill>
                <a:latin typeface="Arial"/>
              </a:rPr>
              <a:t>Source: https://www.ap.org/contact-us/minor-crimes/</a:t>
            </a:r>
          </a:p>
          <a:p>
            <a:pPr>
              <a:spcAft>
                <a:spcPts val="600"/>
              </a:spcAft>
            </a:pPr>
            <a:r>
              <a:rPr sz="1200" b="0" i="0">
                <a:solidFill>
                  <a:srgbClr val="52514E"/>
                </a:solidFill>
                <a:latin typeface="Arial"/>
              </a:rPr>
              <a:t>Fetched 2026-10-08 15:41:11 · page SHA-256 50a1d590f771fd3b…</a:t>
            </a:r>
          </a:p>
          <a:p>
            <a:pPr>
              <a:spcAft>
                <a:spcPts val="600"/>
              </a:spcAft>
            </a:pPr>
            <a:r>
              <a:rPr sz="1200" b="0" i="0">
                <a:solidFill>
                  <a:srgbClr val="52514E"/>
                </a:solidFill>
                <a:latin typeface="Arial"/>
              </a:rPr>
              <a:t>Matches: criminal allegation or arrest, charges dismissed or dropped, search engine prominence, deindexing</a:t>
            </a:r>
          </a:p>
          <a:p>
            <a:pPr>
              <a:spcAft>
                <a:spcPts val="600"/>
              </a:spcAft>
            </a:pPr>
            <a:r>
              <a:rPr sz="1200" b="0" i="0">
                <a:solidFill>
                  <a:srgbClr val="52514E"/>
                </a:solidFill>
                <a:latin typeface="Arial"/>
              </a:rPr>
              <a:t>UNVERIFIED — confirm against source before quoting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pPr>
              <a:spcAft>
                <a:spcPts val="600"/>
              </a:spcAft>
            </a:pPr>
            <a:r>
              <a:rPr sz="1200" b="0" i="0">
                <a:solidFill>
                  <a:srgbClr val="8A8984"/>
                </a:solidFill>
                <a:latin typeface="Arial"/>
              </a:rPr>
              <a:t>PRECEDENT 2 · PRECEDENT_CASE · MATCH TO CASE 58/100</a:t>
            </a:r>
          </a:p>
        </p:txBody>
      </p:sp>
      <p:sp>
        <p:nvSpPr>
          <p:cNvPr id="3" name="TextBox 2"/>
          <p:cNvSpPr txBox="1"/>
          <p:nvPr/>
        </p:nvSpPr>
        <p:spPr>
          <a:xfrm>
            <a:off x="548640" y="594360"/>
            <a:ext cx="11064240" cy="822960"/>
          </a:xfrm>
          <a:prstGeom prst="rect">
            <a:avLst/>
          </a:prstGeom>
          <a:noFill/>
        </p:spPr>
        <p:txBody>
          <a:bodyPr wrap="square">
            <a:spAutoFit/>
          </a:bodyPr>
          <a:lstStyle/>
          <a:p>
            <a:pPr>
              <a:spcAft>
                <a:spcPts val="600"/>
              </a:spcAft>
            </a:pPr>
            <a:r>
              <a:rPr sz="3000" b="1" i="0">
                <a:solidFill>
                  <a:srgbClr val="0B0B0B"/>
                </a:solidFill>
                <a:latin typeface="Arial"/>
              </a:rPr>
              <a:t>WUFT — De-indexing among options</a:t>
            </a:r>
          </a:p>
        </p:txBody>
      </p:sp>
      <p:sp>
        <p:nvSpPr>
          <p:cNvPr id="4" name="TextBox 3"/>
          <p:cNvSpPr txBox="1"/>
          <p:nvPr/>
        </p:nvSpPr>
        <p:spPr>
          <a:xfrm>
            <a:off x="822960" y="1737360"/>
            <a:ext cx="10515600" cy="2926080"/>
          </a:xfrm>
          <a:prstGeom prst="rect">
            <a:avLst/>
          </a:prstGeom>
          <a:noFill/>
        </p:spPr>
        <p:txBody>
          <a:bodyPr wrap="square">
            <a:spAutoFit/>
          </a:bodyPr>
          <a:lstStyle/>
          <a:p>
            <a:pPr>
              <a:spcAft>
                <a:spcPts val="600"/>
              </a:spcAft>
            </a:pPr>
            <a:r>
              <a:rPr sz="2200" b="0" i="1">
                <a:solidFill>
                  <a:srgbClr val="0B0B0B"/>
                </a:solidFill>
                <a:latin typeface="Arial"/>
              </a:rPr>
              <a:t>“Alternatives to removal In some cases, WUFT may offer alternatives to removal or search engine deindexing: Updating the article to reflect the current status (e.g., charges dropped, rehabilitation, successful appeal).”</a:t>
            </a:r>
          </a:p>
        </p:txBody>
      </p:sp>
      <p:sp>
        <p:nvSpPr>
          <p:cNvPr id="5" name="TextBox 4"/>
          <p:cNvSpPr txBox="1"/>
          <p:nvPr/>
        </p:nvSpPr>
        <p:spPr>
          <a:xfrm>
            <a:off x="822960" y="4754880"/>
            <a:ext cx="10515600" cy="1280160"/>
          </a:xfrm>
          <a:prstGeom prst="rect">
            <a:avLst/>
          </a:prstGeom>
          <a:noFill/>
        </p:spPr>
        <p:txBody>
          <a:bodyPr wrap="square">
            <a:spAutoFit/>
          </a:bodyPr>
          <a:lstStyle/>
          <a:p>
            <a:pPr>
              <a:spcAft>
                <a:spcPts val="600"/>
              </a:spcAft>
            </a:pPr>
            <a:r>
              <a:rPr sz="1200" b="0" i="0">
                <a:solidFill>
                  <a:srgbClr val="52514E"/>
                </a:solidFill>
                <a:latin typeface="Arial"/>
              </a:rPr>
              <a:t>Source: https://www.wuft.org/editorial-policies</a:t>
            </a:r>
          </a:p>
          <a:p>
            <a:pPr>
              <a:spcAft>
                <a:spcPts val="600"/>
              </a:spcAft>
            </a:pPr>
            <a:r>
              <a:rPr sz="1200" b="0" i="0">
                <a:solidFill>
                  <a:srgbClr val="52514E"/>
                </a:solidFill>
                <a:latin typeface="Arial"/>
              </a:rPr>
              <a:t>Fetched 2026-10-08 15:54:00 · page SHA-256 c1ad4bd49906364b…</a:t>
            </a:r>
          </a:p>
          <a:p>
            <a:pPr>
              <a:spcAft>
                <a:spcPts val="600"/>
              </a:spcAft>
            </a:pPr>
            <a:r>
              <a:rPr sz="1200" b="0" i="0">
                <a:solidFill>
                  <a:srgbClr val="52514E"/>
                </a:solidFill>
                <a:latin typeface="Arial"/>
              </a:rPr>
              <a:t>Matches: criminal allegation or arrest, charges dismissed or dropped, search engine prominence, deindexing</a:t>
            </a:r>
          </a:p>
          <a:p>
            <a:pPr>
              <a:spcAft>
                <a:spcPts val="600"/>
              </a:spcAft>
            </a:pPr>
            <a:r>
              <a:rPr sz="1200" b="0" i="0">
                <a:solidFill>
                  <a:srgbClr val="52514E"/>
                </a:solidFill>
                <a:latin typeface="Arial"/>
              </a:rPr>
              <a:t>UNVERIFIED — confirm against source before quoting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pPr>
              <a:spcAft>
                <a:spcPts val="600"/>
              </a:spcAft>
            </a:pPr>
            <a:r>
              <a:rPr sz="1200" b="0" i="0">
                <a:solidFill>
                  <a:srgbClr val="8A8984"/>
                </a:solidFill>
                <a:latin typeface="Arial"/>
              </a:rPr>
              <a:t>PRECEDENT 3 · PROFESSIONAL NEWSROOMS · MATCH TO CASE 58/100</a:t>
            </a:r>
          </a:p>
        </p:txBody>
      </p:sp>
      <p:sp>
        <p:nvSpPr>
          <p:cNvPr id="3" name="TextBox 2"/>
          <p:cNvSpPr txBox="1"/>
          <p:nvPr/>
        </p:nvSpPr>
        <p:spPr>
          <a:xfrm>
            <a:off x="548640" y="594360"/>
            <a:ext cx="11064240" cy="822960"/>
          </a:xfrm>
          <a:prstGeom prst="rect">
            <a:avLst/>
          </a:prstGeom>
          <a:noFill/>
        </p:spPr>
        <p:txBody>
          <a:bodyPr wrap="square">
            <a:spAutoFit/>
          </a:bodyPr>
          <a:lstStyle/>
          <a:p>
            <a:pPr>
              <a:spcAft>
                <a:spcPts val="600"/>
              </a:spcAft>
            </a:pPr>
            <a:r>
              <a:rPr sz="3000" b="1" i="0">
                <a:solidFill>
                  <a:srgbClr val="0B0B0B"/>
                </a:solidFill>
                <a:latin typeface="Arial"/>
              </a:rPr>
              <a:t>Associated Press</a:t>
            </a:r>
          </a:p>
        </p:txBody>
      </p:sp>
      <p:sp>
        <p:nvSpPr>
          <p:cNvPr id="4" name="TextBox 3"/>
          <p:cNvSpPr txBox="1"/>
          <p:nvPr/>
        </p:nvSpPr>
        <p:spPr>
          <a:xfrm>
            <a:off x="822960" y="1737360"/>
            <a:ext cx="10515600" cy="2926080"/>
          </a:xfrm>
          <a:prstGeom prst="rect">
            <a:avLst/>
          </a:prstGeom>
          <a:noFill/>
        </p:spPr>
        <p:txBody>
          <a:bodyPr wrap="square">
            <a:spAutoFit/>
          </a:bodyPr>
          <a:lstStyle/>
          <a:p>
            <a:pPr>
              <a:spcAft>
                <a:spcPts val="600"/>
              </a:spcAft>
            </a:pPr>
            <a:r>
              <a:rPr sz="2200" b="0" i="1">
                <a:solidFill>
                  <a:srgbClr val="0B0B0B"/>
                </a:solidFill>
                <a:latin typeface="Arial"/>
              </a:rPr>
              <a:t>“In those cases, the AP would also request that Google “deindex” the stories, removing them from its search results.”</a:t>
            </a:r>
          </a:p>
        </p:txBody>
      </p:sp>
      <p:sp>
        <p:nvSpPr>
          <p:cNvPr id="5" name="TextBox 4"/>
          <p:cNvSpPr txBox="1"/>
          <p:nvPr/>
        </p:nvSpPr>
        <p:spPr>
          <a:xfrm>
            <a:off x="822960" y="4754880"/>
            <a:ext cx="10515600" cy="1280160"/>
          </a:xfrm>
          <a:prstGeom prst="rect">
            <a:avLst/>
          </a:prstGeom>
          <a:noFill/>
        </p:spPr>
        <p:txBody>
          <a:bodyPr wrap="square">
            <a:spAutoFit/>
          </a:bodyPr>
          <a:lstStyle/>
          <a:p>
            <a:pPr>
              <a:spcAft>
                <a:spcPts val="600"/>
              </a:spcAft>
            </a:pPr>
            <a:r>
              <a:rPr sz="1200" b="0" i="0">
                <a:solidFill>
                  <a:srgbClr val="52514E"/>
                </a:solidFill>
                <a:latin typeface="Arial"/>
              </a:rPr>
              <a:t>Source: https://www.ap.org/contact-us/minor-crimes/</a:t>
            </a:r>
          </a:p>
          <a:p>
            <a:pPr>
              <a:spcAft>
                <a:spcPts val="600"/>
              </a:spcAft>
            </a:pPr>
            <a:r>
              <a:rPr sz="1200" b="0" i="0">
                <a:solidFill>
                  <a:srgbClr val="52514E"/>
                </a:solidFill>
                <a:latin typeface="Arial"/>
              </a:rPr>
              <a:t>Fetched 2026-10-08 13:41:34 · page SHA-256 96e0e4e98c5fa698…</a:t>
            </a:r>
          </a:p>
          <a:p>
            <a:pPr>
              <a:spcAft>
                <a:spcPts val="600"/>
              </a:spcAft>
            </a:pPr>
            <a:r>
              <a:rPr sz="1200" b="0" i="0">
                <a:solidFill>
                  <a:srgbClr val="52514E"/>
                </a:solidFill>
                <a:latin typeface="Arial"/>
              </a:rPr>
              <a:t>Matches: criminal allegation or arrest, charges dismissed or dropped, search engine prominence, deindexing</a:t>
            </a:r>
          </a:p>
          <a:p>
            <a:pPr>
              <a:spcAft>
                <a:spcPts val="600"/>
              </a:spcAft>
            </a:pPr>
            <a:r>
              <a:rPr sz="1200" b="0" i="0">
                <a:solidFill>
                  <a:srgbClr val="52514E"/>
                </a:solidFill>
                <a:latin typeface="Arial"/>
              </a:rPr>
              <a:t>UNVERIFIED — confirm against source before quoting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pPr>
              <a:spcAft>
                <a:spcPts val="600"/>
              </a:spcAft>
            </a:pPr>
            <a:r>
              <a:rPr sz="1200" b="0" i="0">
                <a:solidFill>
                  <a:srgbClr val="8A8984"/>
                </a:solidFill>
                <a:latin typeface="Arial"/>
              </a:rPr>
              <a:t>PRECEDENT 4 · PRECEDENT_CASE · MATCH TO CASE 51/100</a:t>
            </a:r>
          </a:p>
        </p:txBody>
      </p:sp>
      <p:sp>
        <p:nvSpPr>
          <p:cNvPr id="3" name="TextBox 2"/>
          <p:cNvSpPr txBox="1"/>
          <p:nvPr/>
        </p:nvSpPr>
        <p:spPr>
          <a:xfrm>
            <a:off x="548640" y="594360"/>
            <a:ext cx="11064240" cy="822960"/>
          </a:xfrm>
          <a:prstGeom prst="rect">
            <a:avLst/>
          </a:prstGeom>
          <a:noFill/>
        </p:spPr>
        <p:txBody>
          <a:bodyPr wrap="square">
            <a:spAutoFit/>
          </a:bodyPr>
          <a:lstStyle/>
          <a:p>
            <a:pPr>
              <a:spcAft>
                <a:spcPts val="600"/>
              </a:spcAft>
            </a:pPr>
            <a:r>
              <a:rPr sz="3000" b="1" i="0">
                <a:solidFill>
                  <a:srgbClr val="0B0B0B"/>
                </a:solidFill>
                <a:latin typeface="Arial"/>
              </a:rPr>
              <a:t>Center for Media Engagement, University of Texas at Austin — Research on unpublishing ethics</a:t>
            </a:r>
          </a:p>
        </p:txBody>
      </p:sp>
      <p:sp>
        <p:nvSpPr>
          <p:cNvPr id="4" name="TextBox 3"/>
          <p:cNvSpPr txBox="1"/>
          <p:nvPr/>
        </p:nvSpPr>
        <p:spPr>
          <a:xfrm>
            <a:off x="822960" y="1737360"/>
            <a:ext cx="10515600" cy="2926080"/>
          </a:xfrm>
          <a:prstGeom prst="rect">
            <a:avLst/>
          </a:prstGeom>
          <a:noFill/>
        </p:spPr>
        <p:txBody>
          <a:bodyPr wrap="square">
            <a:spAutoFit/>
          </a:bodyPr>
          <a:lstStyle/>
          <a:p>
            <a:pPr>
              <a:spcAft>
                <a:spcPts val="600"/>
              </a:spcAft>
            </a:pPr>
            <a:r>
              <a:rPr sz="2200" b="0" i="1">
                <a:solidFill>
                  <a:srgbClr val="0B0B0B"/>
                </a:solidFill>
                <a:latin typeface="Arial"/>
              </a:rPr>
              <a:t>“Some editors, for example, will opt to de-index the content in search engines so they cannot be found on Google but the original content remains on the news site.”</a:t>
            </a:r>
          </a:p>
        </p:txBody>
      </p:sp>
      <p:sp>
        <p:nvSpPr>
          <p:cNvPr id="5" name="TextBox 4"/>
          <p:cNvSpPr txBox="1"/>
          <p:nvPr/>
        </p:nvSpPr>
        <p:spPr>
          <a:xfrm>
            <a:off x="822960" y="4754880"/>
            <a:ext cx="10515600" cy="1280160"/>
          </a:xfrm>
          <a:prstGeom prst="rect">
            <a:avLst/>
          </a:prstGeom>
          <a:noFill/>
        </p:spPr>
        <p:txBody>
          <a:bodyPr wrap="square">
            <a:spAutoFit/>
          </a:bodyPr>
          <a:lstStyle/>
          <a:p>
            <a:pPr>
              <a:spcAft>
                <a:spcPts val="600"/>
              </a:spcAft>
            </a:pPr>
            <a:r>
              <a:rPr sz="1200" b="0" i="0">
                <a:solidFill>
                  <a:srgbClr val="52514E"/>
                </a:solidFill>
                <a:latin typeface="Arial"/>
              </a:rPr>
              <a:t>Source: https://mediaengagement.org/wp-content/uploads/2021/12/116-Unpublishing-the-News-Case-Study.pdf (Internet Archive copy)</a:t>
            </a:r>
          </a:p>
          <a:p>
            <a:pPr>
              <a:spcAft>
                <a:spcPts val="600"/>
              </a:spcAft>
            </a:pPr>
            <a:r>
              <a:rPr sz="1200" b="0" i="0">
                <a:solidFill>
                  <a:srgbClr val="52514E"/>
                </a:solidFill>
                <a:latin typeface="Arial"/>
              </a:rPr>
              <a:t>Fetched 2026-10-08 15:58:04 · page SHA-256 3113232f4f906432…</a:t>
            </a:r>
          </a:p>
          <a:p>
            <a:pPr>
              <a:spcAft>
                <a:spcPts val="600"/>
              </a:spcAft>
            </a:pPr>
            <a:r>
              <a:rPr sz="1200" b="0" i="0">
                <a:solidFill>
                  <a:srgbClr val="52514E"/>
                </a:solidFill>
                <a:latin typeface="Arial"/>
              </a:rPr>
              <a:t>Matches: student or university setting, search engine prominence, preserve article suppress name search, deindexing</a:t>
            </a:r>
          </a:p>
          <a:p>
            <a:pPr>
              <a:spcAft>
                <a:spcPts val="600"/>
              </a:spcAft>
            </a:pPr>
            <a:r>
              <a:rPr sz="1200" b="0" i="0">
                <a:solidFill>
                  <a:srgbClr val="52514E"/>
                </a:solidFill>
                <a:latin typeface="Arial"/>
              </a:rPr>
              <a:t>UNVERIFIED — confirm against source before quoting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pPr>
              <a:spcAft>
                <a:spcPts val="600"/>
              </a:spcAft>
            </a:pPr>
            <a:r>
              <a:rPr sz="1200" b="0" i="0">
                <a:solidFill>
                  <a:srgbClr val="8A8984"/>
                </a:solidFill>
                <a:latin typeface="Arial"/>
              </a:rPr>
              <a:t>PRECEDENT 5 · PRECEDENT_CASE · MATCH TO CASE 47/100</a:t>
            </a:r>
          </a:p>
        </p:txBody>
      </p:sp>
      <p:sp>
        <p:nvSpPr>
          <p:cNvPr id="3" name="TextBox 2"/>
          <p:cNvSpPr txBox="1"/>
          <p:nvPr/>
        </p:nvSpPr>
        <p:spPr>
          <a:xfrm>
            <a:off x="548640" y="594360"/>
            <a:ext cx="11064240" cy="822960"/>
          </a:xfrm>
          <a:prstGeom prst="rect">
            <a:avLst/>
          </a:prstGeom>
          <a:noFill/>
        </p:spPr>
        <p:txBody>
          <a:bodyPr wrap="square">
            <a:spAutoFit/>
          </a:bodyPr>
          <a:lstStyle/>
          <a:p>
            <a:pPr>
              <a:spcAft>
                <a:spcPts val="600"/>
              </a:spcAft>
            </a:pPr>
            <a:r>
              <a:rPr sz="3000" b="1" i="0">
                <a:solidFill>
                  <a:srgbClr val="0B0B0B"/>
                </a:solidFill>
                <a:latin typeface="Arial"/>
              </a:rPr>
              <a:t>WUFT — De-indexing among options</a:t>
            </a:r>
          </a:p>
        </p:txBody>
      </p:sp>
      <p:sp>
        <p:nvSpPr>
          <p:cNvPr id="4" name="TextBox 3"/>
          <p:cNvSpPr txBox="1"/>
          <p:nvPr/>
        </p:nvSpPr>
        <p:spPr>
          <a:xfrm>
            <a:off x="822960" y="1737360"/>
            <a:ext cx="10515600" cy="2926080"/>
          </a:xfrm>
          <a:prstGeom prst="rect">
            <a:avLst/>
          </a:prstGeom>
          <a:noFill/>
        </p:spPr>
        <p:txBody>
          <a:bodyPr wrap="square">
            <a:spAutoFit/>
          </a:bodyPr>
          <a:lstStyle/>
          <a:p>
            <a:pPr>
              <a:spcAft>
                <a:spcPts val="600"/>
              </a:spcAft>
            </a:pPr>
            <a:r>
              <a:rPr sz="2200" b="0" i="1">
                <a:solidFill>
                  <a:srgbClr val="0B0B0B"/>
                </a:solidFill>
                <a:latin typeface="Arial"/>
              </a:rPr>
              <a:t>“If we receive a request to remove or update a crime story we have reported, we need to be able to independently request or find documentation that the case was expunged or charges dropped, and/or evidence that the age and mitigating conditions have created a different environment for the victim and/or accused.”</a:t>
            </a:r>
          </a:p>
        </p:txBody>
      </p:sp>
      <p:sp>
        <p:nvSpPr>
          <p:cNvPr id="5" name="TextBox 4"/>
          <p:cNvSpPr txBox="1"/>
          <p:nvPr/>
        </p:nvSpPr>
        <p:spPr>
          <a:xfrm>
            <a:off x="822960" y="4754880"/>
            <a:ext cx="10515600" cy="1280160"/>
          </a:xfrm>
          <a:prstGeom prst="rect">
            <a:avLst/>
          </a:prstGeom>
          <a:noFill/>
        </p:spPr>
        <p:txBody>
          <a:bodyPr wrap="square">
            <a:spAutoFit/>
          </a:bodyPr>
          <a:lstStyle/>
          <a:p>
            <a:pPr>
              <a:spcAft>
                <a:spcPts val="600"/>
              </a:spcAft>
            </a:pPr>
            <a:r>
              <a:rPr sz="1200" b="0" i="0">
                <a:solidFill>
                  <a:srgbClr val="52514E"/>
                </a:solidFill>
                <a:latin typeface="Arial"/>
              </a:rPr>
              <a:t>Source: https://www.wuft.org/editorial-policies</a:t>
            </a:r>
          </a:p>
          <a:p>
            <a:pPr>
              <a:spcAft>
                <a:spcPts val="600"/>
              </a:spcAft>
            </a:pPr>
            <a:r>
              <a:rPr sz="1200" b="0" i="0">
                <a:solidFill>
                  <a:srgbClr val="52514E"/>
                </a:solidFill>
                <a:latin typeface="Arial"/>
              </a:rPr>
              <a:t>Fetched 2026-10-08 15:54:00 · page SHA-256 c1ad4bd49906364b…</a:t>
            </a:r>
          </a:p>
          <a:p>
            <a:pPr>
              <a:spcAft>
                <a:spcPts val="600"/>
              </a:spcAft>
            </a:pPr>
            <a:r>
              <a:rPr sz="1200" b="0" i="0">
                <a:solidFill>
                  <a:srgbClr val="52514E"/>
                </a:solidFill>
                <a:latin typeface="Arial"/>
              </a:rPr>
              <a:t>Matches: criminal allegation or arrest, charges dismissed or dropped, deindexing</a:t>
            </a:r>
          </a:p>
          <a:p>
            <a:pPr>
              <a:spcAft>
                <a:spcPts val="600"/>
              </a:spcAft>
            </a:pPr>
            <a:r>
              <a:rPr sz="1200" b="0" i="0">
                <a:solidFill>
                  <a:srgbClr val="52514E"/>
                </a:solidFill>
                <a:latin typeface="Arial"/>
              </a:rPr>
              <a:t>UNVERIFIED — confirm against source before quoting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pPr>
              <a:spcAft>
                <a:spcPts val="600"/>
              </a:spcAft>
            </a:pPr>
            <a:r>
              <a:rPr sz="1200" b="0" i="0">
                <a:solidFill>
                  <a:srgbClr val="8A8984"/>
                </a:solidFill>
                <a:latin typeface="Arial"/>
              </a:rPr>
              <a:t>PRECEDENT 6 · PRECEDENT_CASE · MATCH TO CASE 42/100</a:t>
            </a:r>
          </a:p>
        </p:txBody>
      </p:sp>
      <p:sp>
        <p:nvSpPr>
          <p:cNvPr id="3" name="TextBox 2"/>
          <p:cNvSpPr txBox="1"/>
          <p:nvPr/>
        </p:nvSpPr>
        <p:spPr>
          <a:xfrm>
            <a:off x="548640" y="594360"/>
            <a:ext cx="11064240" cy="822960"/>
          </a:xfrm>
          <a:prstGeom prst="rect">
            <a:avLst/>
          </a:prstGeom>
          <a:noFill/>
        </p:spPr>
        <p:txBody>
          <a:bodyPr wrap="square">
            <a:spAutoFit/>
          </a:bodyPr>
          <a:lstStyle/>
          <a:p>
            <a:pPr>
              <a:spcAft>
                <a:spcPts val="600"/>
              </a:spcAft>
            </a:pPr>
            <a:r>
              <a:rPr sz="3000" b="1" i="0">
                <a:solidFill>
                  <a:srgbClr val="0B0B0B"/>
                </a:solidFill>
                <a:latin typeface="Arial"/>
              </a:rPr>
              <a:t>Chicago Sun-Times — Direct de-indexing policy</a:t>
            </a:r>
          </a:p>
        </p:txBody>
      </p:sp>
      <p:sp>
        <p:nvSpPr>
          <p:cNvPr id="4" name="TextBox 3"/>
          <p:cNvSpPr txBox="1"/>
          <p:nvPr/>
        </p:nvSpPr>
        <p:spPr>
          <a:xfrm>
            <a:off x="822960" y="1737360"/>
            <a:ext cx="10515600" cy="2926080"/>
          </a:xfrm>
          <a:prstGeom prst="rect">
            <a:avLst/>
          </a:prstGeom>
          <a:noFill/>
        </p:spPr>
        <p:txBody>
          <a:bodyPr wrap="square">
            <a:spAutoFit/>
          </a:bodyPr>
          <a:lstStyle/>
          <a:p>
            <a:pPr>
              <a:spcAft>
                <a:spcPts val="600"/>
              </a:spcAft>
            </a:pPr>
            <a:r>
              <a:rPr sz="2200" b="0" i="1">
                <a:solidFill>
                  <a:srgbClr val="0B0B0B"/>
                </a:solidFill>
                <a:latin typeface="Arial"/>
              </a:rPr>
              <a:t>“We’ve set up a newsroom panel to review requests to de-index, or remove from internet search engines, past coverage that meets certain criteria.”</a:t>
            </a:r>
          </a:p>
        </p:txBody>
      </p:sp>
      <p:sp>
        <p:nvSpPr>
          <p:cNvPr id="5" name="TextBox 4"/>
          <p:cNvSpPr txBox="1"/>
          <p:nvPr/>
        </p:nvSpPr>
        <p:spPr>
          <a:xfrm>
            <a:off x="822960" y="4754880"/>
            <a:ext cx="10515600" cy="1280160"/>
          </a:xfrm>
          <a:prstGeom prst="rect">
            <a:avLst/>
          </a:prstGeom>
          <a:noFill/>
        </p:spPr>
        <p:txBody>
          <a:bodyPr wrap="square">
            <a:spAutoFit/>
          </a:bodyPr>
          <a:lstStyle/>
          <a:p>
            <a:pPr>
              <a:spcAft>
                <a:spcPts val="600"/>
              </a:spcAft>
            </a:pPr>
            <a:r>
              <a:rPr sz="1200" b="0" i="0">
                <a:solidFill>
                  <a:srgbClr val="52514E"/>
                </a:solidFill>
                <a:latin typeface="Arial"/>
              </a:rPr>
              <a:t>Source: https://chicago.suntimes.com/right-to-be-forgotten-policy</a:t>
            </a:r>
          </a:p>
          <a:p>
            <a:pPr>
              <a:spcAft>
                <a:spcPts val="600"/>
              </a:spcAft>
            </a:pPr>
            <a:r>
              <a:rPr sz="1200" b="0" i="0">
                <a:solidFill>
                  <a:srgbClr val="52514E"/>
                </a:solidFill>
                <a:latin typeface="Arial"/>
              </a:rPr>
              <a:t>Fetched 2026-10-08 15:41:27 · page SHA-256 95e7cf3abc103167…</a:t>
            </a:r>
          </a:p>
          <a:p>
            <a:pPr>
              <a:spcAft>
                <a:spcPts val="600"/>
              </a:spcAft>
            </a:pPr>
            <a:r>
              <a:rPr sz="1200" b="0" i="0">
                <a:solidFill>
                  <a:srgbClr val="52514E"/>
                </a:solidFill>
                <a:latin typeface="Arial"/>
              </a:rPr>
              <a:t>Matches: criminal allegation or arrest, search engine prominence, deindexing</a:t>
            </a:r>
          </a:p>
          <a:p>
            <a:pPr>
              <a:spcAft>
                <a:spcPts val="600"/>
              </a:spcAft>
            </a:pPr>
            <a:r>
              <a:rPr sz="1200" b="0" i="0">
                <a:solidFill>
                  <a:srgbClr val="52514E"/>
                </a:solidFill>
                <a:latin typeface="Arial"/>
              </a:rPr>
              <a:t>UNVERIFIED — confirm against source before quoting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pPr>
              <a:spcAft>
                <a:spcPts val="600"/>
              </a:spcAft>
            </a:pPr>
            <a:r>
              <a:rPr sz="1200" b="0" i="0">
                <a:solidFill>
                  <a:srgbClr val="8A8984"/>
                </a:solidFill>
                <a:latin typeface="Arial"/>
              </a:rPr>
              <a:t>PRECEDENT 7 · PRECEDENT_CASE · MATCH TO CASE 42/100</a:t>
            </a:r>
          </a:p>
        </p:txBody>
      </p:sp>
      <p:sp>
        <p:nvSpPr>
          <p:cNvPr id="3" name="TextBox 2"/>
          <p:cNvSpPr txBox="1"/>
          <p:nvPr/>
        </p:nvSpPr>
        <p:spPr>
          <a:xfrm>
            <a:off x="548640" y="594360"/>
            <a:ext cx="11064240" cy="822960"/>
          </a:xfrm>
          <a:prstGeom prst="rect">
            <a:avLst/>
          </a:prstGeom>
          <a:noFill/>
        </p:spPr>
        <p:txBody>
          <a:bodyPr wrap="square">
            <a:spAutoFit/>
          </a:bodyPr>
          <a:lstStyle/>
          <a:p>
            <a:pPr>
              <a:spcAft>
                <a:spcPts val="600"/>
              </a:spcAft>
            </a:pPr>
            <a:r>
              <a:rPr sz="3000" b="1" i="0">
                <a:solidFill>
                  <a:srgbClr val="0B0B0B"/>
                </a:solidFill>
                <a:latin typeface="Arial"/>
              </a:rPr>
              <a:t>OregonLive.com — Clean Slate / reviewed changes</a:t>
            </a:r>
          </a:p>
        </p:txBody>
      </p:sp>
      <p:sp>
        <p:nvSpPr>
          <p:cNvPr id="4" name="TextBox 3"/>
          <p:cNvSpPr txBox="1"/>
          <p:nvPr/>
        </p:nvSpPr>
        <p:spPr>
          <a:xfrm>
            <a:off x="822960" y="1737360"/>
            <a:ext cx="10515600" cy="2926080"/>
          </a:xfrm>
          <a:prstGeom prst="rect">
            <a:avLst/>
          </a:prstGeom>
          <a:noFill/>
        </p:spPr>
        <p:txBody>
          <a:bodyPr wrap="square">
            <a:spAutoFit/>
          </a:bodyPr>
          <a:lstStyle/>
          <a:p>
            <a:pPr>
              <a:spcAft>
                <a:spcPts val="600"/>
              </a:spcAft>
            </a:pPr>
            <a:r>
              <a:rPr sz="2200" b="0" i="1">
                <a:solidFill>
                  <a:srgbClr val="0B0B0B"/>
                </a:solidFill>
                <a:latin typeface="Arial"/>
              </a:rPr>
              <a:t>“It can remove a mugshot – a logical step after Oregon changed the law to limit the release of booking photos, with lawmakers recognizing their severe harm .”</a:t>
            </a:r>
          </a:p>
        </p:txBody>
      </p:sp>
      <p:sp>
        <p:nvSpPr>
          <p:cNvPr id="5" name="TextBox 4"/>
          <p:cNvSpPr txBox="1"/>
          <p:nvPr/>
        </p:nvSpPr>
        <p:spPr>
          <a:xfrm>
            <a:off x="822960" y="4754880"/>
            <a:ext cx="10515600" cy="1280160"/>
          </a:xfrm>
          <a:prstGeom prst="rect">
            <a:avLst/>
          </a:prstGeom>
          <a:noFill/>
        </p:spPr>
        <p:txBody>
          <a:bodyPr wrap="square">
            <a:spAutoFit/>
          </a:bodyPr>
          <a:lstStyle/>
          <a:p>
            <a:pPr>
              <a:spcAft>
                <a:spcPts val="600"/>
              </a:spcAft>
            </a:pPr>
            <a:r>
              <a:rPr sz="1200" b="0" i="0">
                <a:solidFill>
                  <a:srgbClr val="52514E"/>
                </a:solidFill>
                <a:latin typeface="Arial"/>
              </a:rPr>
              <a:t>Source: https://www.theguardian.com/us-news/2025/jan/04/newspaper-crime-stories</a:t>
            </a:r>
          </a:p>
          <a:p>
            <a:pPr>
              <a:spcAft>
                <a:spcPts val="600"/>
              </a:spcAft>
            </a:pPr>
            <a:r>
              <a:rPr sz="1200" b="0" i="0">
                <a:solidFill>
                  <a:srgbClr val="52514E"/>
                </a:solidFill>
                <a:latin typeface="Arial"/>
              </a:rPr>
              <a:t>Fetched 2026-10-08 15:46:37 · page SHA-256 7fee7e2d0f9db777…</a:t>
            </a:r>
          </a:p>
          <a:p>
            <a:pPr>
              <a:spcAft>
                <a:spcPts val="600"/>
              </a:spcAft>
            </a:pPr>
            <a:r>
              <a:rPr sz="1200" b="0" i="0">
                <a:solidFill>
                  <a:srgbClr val="52514E"/>
                </a:solidFill>
                <a:latin typeface="Arial"/>
              </a:rPr>
              <a:t>Matches: criminal allegation or arrest, search engine prominence, deindexing</a:t>
            </a:r>
          </a:p>
          <a:p>
            <a:pPr>
              <a:spcAft>
                <a:spcPts val="600"/>
              </a:spcAft>
            </a:pPr>
            <a:r>
              <a:rPr sz="1200" b="0" i="0">
                <a:solidFill>
                  <a:srgbClr val="52514E"/>
                </a:solidFill>
                <a:latin typeface="Arial"/>
              </a:rPr>
              <a:t>UNVERIFIED — confirm against source before quoting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pPr>
              <a:spcAft>
                <a:spcPts val="600"/>
              </a:spcAft>
            </a:pPr>
            <a:r>
              <a:rPr sz="1200" b="0" i="0">
                <a:solidFill>
                  <a:srgbClr val="8A8984"/>
                </a:solidFill>
                <a:latin typeface="Arial"/>
              </a:rPr>
              <a:t>PRECEDENT 8 · PRECEDENT_CASE · MATCH TO CASE 42/100</a:t>
            </a:r>
          </a:p>
        </p:txBody>
      </p:sp>
      <p:sp>
        <p:nvSpPr>
          <p:cNvPr id="3" name="TextBox 2"/>
          <p:cNvSpPr txBox="1"/>
          <p:nvPr/>
        </p:nvSpPr>
        <p:spPr>
          <a:xfrm>
            <a:off x="548640" y="594360"/>
            <a:ext cx="11064240" cy="822960"/>
          </a:xfrm>
          <a:prstGeom prst="rect">
            <a:avLst/>
          </a:prstGeom>
          <a:noFill/>
        </p:spPr>
        <p:txBody>
          <a:bodyPr wrap="square">
            <a:spAutoFit/>
          </a:bodyPr>
          <a:lstStyle/>
          <a:p>
            <a:pPr>
              <a:spcAft>
                <a:spcPts val="600"/>
              </a:spcAft>
            </a:pPr>
            <a:r>
              <a:rPr sz="3000" b="1" i="0">
                <a:solidFill>
                  <a:srgbClr val="0B0B0B"/>
                </a:solidFill>
                <a:latin typeface="Arial"/>
              </a:rPr>
              <a:t>OregonLive.com — Clean Slate / reviewed changes</a:t>
            </a:r>
          </a:p>
        </p:txBody>
      </p:sp>
      <p:sp>
        <p:nvSpPr>
          <p:cNvPr id="4" name="TextBox 3"/>
          <p:cNvSpPr txBox="1"/>
          <p:nvPr/>
        </p:nvSpPr>
        <p:spPr>
          <a:xfrm>
            <a:off x="822960" y="1737360"/>
            <a:ext cx="10515600" cy="2926080"/>
          </a:xfrm>
          <a:prstGeom prst="rect">
            <a:avLst/>
          </a:prstGeom>
          <a:noFill/>
        </p:spPr>
        <p:txBody>
          <a:bodyPr wrap="square">
            <a:spAutoFit/>
          </a:bodyPr>
          <a:lstStyle/>
          <a:p>
            <a:pPr>
              <a:spcAft>
                <a:spcPts val="600"/>
              </a:spcAft>
            </a:pPr>
            <a:r>
              <a:rPr sz="2200" b="0" i="1">
                <a:solidFill>
                  <a:srgbClr val="0B0B0B"/>
                </a:solidFill>
                <a:latin typeface="Arial"/>
              </a:rPr>
              <a:t>“The paper can also remove a subject’s name, delete the story entirely, or ask Google to deindex the article, meaning it would still exist on OregonLive.com, but wouldn’t easily surface in a web search.”</a:t>
            </a:r>
          </a:p>
        </p:txBody>
      </p:sp>
      <p:sp>
        <p:nvSpPr>
          <p:cNvPr id="5" name="TextBox 4"/>
          <p:cNvSpPr txBox="1"/>
          <p:nvPr/>
        </p:nvSpPr>
        <p:spPr>
          <a:xfrm>
            <a:off x="822960" y="4754880"/>
            <a:ext cx="10515600" cy="1280160"/>
          </a:xfrm>
          <a:prstGeom prst="rect">
            <a:avLst/>
          </a:prstGeom>
          <a:noFill/>
        </p:spPr>
        <p:txBody>
          <a:bodyPr wrap="square">
            <a:spAutoFit/>
          </a:bodyPr>
          <a:lstStyle/>
          <a:p>
            <a:pPr>
              <a:spcAft>
                <a:spcPts val="600"/>
              </a:spcAft>
            </a:pPr>
            <a:r>
              <a:rPr sz="1200" b="0" i="0">
                <a:solidFill>
                  <a:srgbClr val="52514E"/>
                </a:solidFill>
                <a:latin typeface="Arial"/>
              </a:rPr>
              <a:t>Source: https://www.theguardian.com/us-news/2025/jan/04/newspaper-crime-stories</a:t>
            </a:r>
          </a:p>
          <a:p>
            <a:pPr>
              <a:spcAft>
                <a:spcPts val="600"/>
              </a:spcAft>
            </a:pPr>
            <a:r>
              <a:rPr sz="1200" b="0" i="0">
                <a:solidFill>
                  <a:srgbClr val="52514E"/>
                </a:solidFill>
                <a:latin typeface="Arial"/>
              </a:rPr>
              <a:t>Fetched 2026-10-08 15:46:37 · page SHA-256 7fee7e2d0f9db777…</a:t>
            </a:r>
          </a:p>
          <a:p>
            <a:pPr>
              <a:spcAft>
                <a:spcPts val="600"/>
              </a:spcAft>
            </a:pPr>
            <a:r>
              <a:rPr sz="1200" b="0" i="0">
                <a:solidFill>
                  <a:srgbClr val="52514E"/>
                </a:solidFill>
                <a:latin typeface="Arial"/>
              </a:rPr>
              <a:t>Matches: criminal allegation or arrest, search engine prominence, deindexing</a:t>
            </a:r>
          </a:p>
          <a:p>
            <a:pPr>
              <a:spcAft>
                <a:spcPts val="600"/>
              </a:spcAft>
            </a:pPr>
            <a:r>
              <a:rPr sz="1200" b="0" i="0">
                <a:solidFill>
                  <a:srgbClr val="52514E"/>
                </a:solidFill>
                <a:latin typeface="Arial"/>
              </a:rPr>
              <a:t>UNVERIFIED — confirm against source before quoting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pPr>
              <a:spcAft>
                <a:spcPts val="600"/>
              </a:spcAft>
            </a:pPr>
            <a:r>
              <a:rPr sz="1200" b="0" i="0">
                <a:solidFill>
                  <a:srgbClr val="8A8984"/>
                </a:solidFill>
                <a:latin typeface="Arial"/>
              </a:rPr>
              <a:t>EXPERT VOICES</a:t>
            </a:r>
          </a:p>
        </p:txBody>
      </p:sp>
      <p:sp>
        <p:nvSpPr>
          <p:cNvPr id="3" name="TextBox 2"/>
          <p:cNvSpPr txBox="1"/>
          <p:nvPr/>
        </p:nvSpPr>
        <p:spPr>
          <a:xfrm>
            <a:off x="548640" y="594360"/>
            <a:ext cx="11064240" cy="822960"/>
          </a:xfrm>
          <a:prstGeom prst="rect">
            <a:avLst/>
          </a:prstGeom>
          <a:noFill/>
        </p:spPr>
        <p:txBody>
          <a:bodyPr wrap="square">
            <a:spAutoFit/>
          </a:bodyPr>
          <a:lstStyle/>
          <a:p>
            <a:pPr>
              <a:spcAft>
                <a:spcPts val="600"/>
              </a:spcAft>
            </a:pPr>
            <a:r>
              <a:rPr sz="3000" b="1" i="0">
                <a:solidFill>
                  <a:srgbClr val="0B0B0B"/>
                </a:solidFill>
                <a:latin typeface="Arial"/>
              </a:rPr>
              <a:t>What respected practitioners say</a:t>
            </a:r>
          </a:p>
        </p:txBody>
      </p:sp>
      <p:sp>
        <p:nvSpPr>
          <p:cNvPr id="4" name="Rectangle 3"/>
          <p:cNvSpPr/>
          <p:nvPr/>
        </p:nvSpPr>
        <p:spPr>
          <a:xfrm>
            <a:off x="548640" y="1554480"/>
            <a:ext cx="5440680" cy="2194560"/>
          </a:xfrm>
          <a:prstGeom prst="rect">
            <a:avLst/>
          </a:prstGeom>
          <a:solidFill>
            <a:srgbClr val="E4F2EA"/>
          </a:solidFill>
          <a:ln>
            <a:solidFill>
              <a:srgbClr val="E4E3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645920"/>
            <a:ext cx="5166360" cy="2011680"/>
          </a:xfrm>
          <a:prstGeom prst="rect">
            <a:avLst/>
          </a:prstGeom>
          <a:noFill/>
        </p:spPr>
        <p:txBody>
          <a:bodyPr wrap="square">
            <a:spAutoFit/>
          </a:bodyPr>
          <a:lstStyle/>
          <a:p>
            <a:pPr>
              <a:spcAft>
                <a:spcPts val="600"/>
              </a:spcAft>
            </a:pPr>
            <a:r>
              <a:rPr sz="1200" b="0" i="1">
                <a:solidFill>
                  <a:srgbClr val="0B0B0B"/>
                </a:solidFill>
                <a:latin typeface="Arial"/>
              </a:rPr>
              <a:t>“Last December, Quinn’s newsroom received a $200,000 grant from Google to develop technology that could scrape through its archive and identify mug shots or minor crime reports that should be preemptively de-indexed or removed.”</a:t>
            </a:r>
          </a:p>
          <a:p>
            <a:pPr>
              <a:spcAft>
                <a:spcPts val="600"/>
              </a:spcAft>
            </a:pPr>
            <a:r>
              <a:rPr sz="1200" b="0" i="0">
                <a:solidFill>
                  <a:srgbClr val="0B0B0B"/>
                </a:solidFill>
                <a:latin typeface="Arial"/>
              </a:rPr>
              <a:t>— Linda Kinstler</a:t>
            </a:r>
          </a:p>
          <a:p>
            <a:pPr>
              <a:spcAft>
                <a:spcPts val="600"/>
              </a:spcAft>
            </a:pPr>
            <a:r>
              <a:rPr sz="1200" b="0" i="0">
                <a:solidFill>
                  <a:srgbClr val="0B0B0B"/>
                </a:solidFill>
                <a:latin typeface="Arial"/>
              </a:rPr>
              <a:t>https://www.cjr.org/special_report/right-to-be-forgotten.php · UNVERIFIED</a:t>
            </a:r>
          </a:p>
        </p:txBody>
      </p:sp>
      <p:sp>
        <p:nvSpPr>
          <p:cNvPr id="6" name="Rectangle 5"/>
          <p:cNvSpPr/>
          <p:nvPr/>
        </p:nvSpPr>
        <p:spPr>
          <a:xfrm>
            <a:off x="6172200" y="1554480"/>
            <a:ext cx="5440680" cy="2194560"/>
          </a:xfrm>
          <a:prstGeom prst="rect">
            <a:avLst/>
          </a:prstGeom>
          <a:solidFill>
            <a:srgbClr val="E4F2EA"/>
          </a:solidFill>
          <a:ln>
            <a:solidFill>
              <a:srgbClr val="E4E3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09360" y="1645920"/>
            <a:ext cx="5166360" cy="2011680"/>
          </a:xfrm>
          <a:prstGeom prst="rect">
            <a:avLst/>
          </a:prstGeom>
          <a:noFill/>
        </p:spPr>
        <p:txBody>
          <a:bodyPr wrap="square">
            <a:spAutoFit/>
          </a:bodyPr>
          <a:lstStyle/>
          <a:p>
            <a:pPr>
              <a:spcAft>
                <a:spcPts val="600"/>
              </a:spcAft>
            </a:pPr>
            <a:r>
              <a:rPr sz="1200" b="0" i="1">
                <a:solidFill>
                  <a:srgbClr val="0B0B0B"/>
                </a:solidFill>
                <a:latin typeface="Arial"/>
              </a:rPr>
              <a:t>“As we spoke, he pulled up a spreadsheet and walked me through a few examples: a family member asking to remove a paid obituary (approved); an alleged road rage incident in which an arrest occurred and charges were dropped (approved after a reporter confirmed t”</a:t>
            </a:r>
          </a:p>
          <a:p>
            <a:pPr>
              <a:spcAft>
                <a:spcPts val="600"/>
              </a:spcAft>
            </a:pPr>
            <a:r>
              <a:rPr sz="1200" b="0" i="0">
                <a:solidFill>
                  <a:srgbClr val="0B0B0B"/>
                </a:solidFill>
                <a:latin typeface="Arial"/>
              </a:rPr>
              <a:t>— Linda Kinstler</a:t>
            </a:r>
          </a:p>
          <a:p>
            <a:pPr>
              <a:spcAft>
                <a:spcPts val="600"/>
              </a:spcAft>
            </a:pPr>
            <a:r>
              <a:rPr sz="1200" b="0" i="0">
                <a:solidFill>
                  <a:srgbClr val="0B0B0B"/>
                </a:solidFill>
                <a:latin typeface="Arial"/>
              </a:rPr>
              <a:t>https://www.cjr.org/special_report/right-to-be-forgotten.php · UNVERIFIED</a:t>
            </a:r>
          </a:p>
        </p:txBody>
      </p:sp>
      <p:sp>
        <p:nvSpPr>
          <p:cNvPr id="8" name="Rectangle 7"/>
          <p:cNvSpPr/>
          <p:nvPr/>
        </p:nvSpPr>
        <p:spPr>
          <a:xfrm>
            <a:off x="548640" y="3886200"/>
            <a:ext cx="5440680" cy="2194560"/>
          </a:xfrm>
          <a:prstGeom prst="rect">
            <a:avLst/>
          </a:prstGeom>
          <a:solidFill>
            <a:srgbClr val="E4F2EA"/>
          </a:solidFill>
          <a:ln>
            <a:solidFill>
              <a:srgbClr val="E4E3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3977639"/>
            <a:ext cx="5166360" cy="2011680"/>
          </a:xfrm>
          <a:prstGeom prst="rect">
            <a:avLst/>
          </a:prstGeom>
          <a:noFill/>
        </p:spPr>
        <p:txBody>
          <a:bodyPr wrap="square">
            <a:spAutoFit/>
          </a:bodyPr>
          <a:lstStyle/>
          <a:p>
            <a:pPr>
              <a:spcAft>
                <a:spcPts val="600"/>
              </a:spcAft>
            </a:pPr>
            <a:r>
              <a:rPr sz="1200" b="0" i="1">
                <a:solidFill>
                  <a:srgbClr val="0B0B0B"/>
                </a:solidFill>
                <a:latin typeface="Arial"/>
              </a:rPr>
              <a:t>“The main remedy we will offer is deindexing.”</a:t>
            </a:r>
          </a:p>
          <a:p>
            <a:pPr>
              <a:spcAft>
                <a:spcPts val="600"/>
              </a:spcAft>
            </a:pPr>
            <a:r>
              <a:rPr sz="1200" b="0" i="0">
                <a:solidFill>
                  <a:srgbClr val="0B0B0B"/>
                </a:solidFill>
                <a:latin typeface="Arial"/>
              </a:rPr>
              <a:t>— No Author</a:t>
            </a:r>
          </a:p>
          <a:p>
            <a:pPr>
              <a:spcAft>
                <a:spcPts val="600"/>
              </a:spcAft>
            </a:pPr>
            <a:r>
              <a:rPr sz="1200" b="0" i="0">
                <a:solidFill>
                  <a:srgbClr val="0B0B0B"/>
                </a:solidFill>
                <a:latin typeface="Arial"/>
              </a:rPr>
              <a:t>https://www.inquirer.com/about/inq2/up-for-review-inquirer-policy-20230201.html · UNVERIFIED</a:t>
            </a:r>
          </a:p>
        </p:txBody>
      </p:sp>
      <p:sp>
        <p:nvSpPr>
          <p:cNvPr id="10" name="Rectangle 9"/>
          <p:cNvSpPr/>
          <p:nvPr/>
        </p:nvSpPr>
        <p:spPr>
          <a:xfrm>
            <a:off x="6172200" y="3886200"/>
            <a:ext cx="5440680" cy="2194560"/>
          </a:xfrm>
          <a:prstGeom prst="rect">
            <a:avLst/>
          </a:prstGeom>
          <a:solidFill>
            <a:srgbClr val="E4F2EA"/>
          </a:solidFill>
          <a:ln>
            <a:solidFill>
              <a:srgbClr val="E4E3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0" y="3977639"/>
            <a:ext cx="5166360" cy="2011680"/>
          </a:xfrm>
          <a:prstGeom prst="rect">
            <a:avLst/>
          </a:prstGeom>
          <a:noFill/>
        </p:spPr>
        <p:txBody>
          <a:bodyPr wrap="square">
            <a:spAutoFit/>
          </a:bodyPr>
          <a:lstStyle/>
          <a:p>
            <a:pPr>
              <a:spcAft>
                <a:spcPts val="600"/>
              </a:spcAft>
            </a:pPr>
            <a:r>
              <a:rPr sz="1200" b="0" i="1">
                <a:solidFill>
                  <a:srgbClr val="0B0B0B"/>
                </a:solidFill>
                <a:latin typeface="Arial"/>
              </a:rPr>
              <a:t>“Digital Content Removal Policy We will consider removing content from our digital platforms on a case-by-case basis.”</a:t>
            </a:r>
          </a:p>
          <a:p>
            <a:pPr>
              <a:spcAft>
                <a:spcPts val="600"/>
              </a:spcAft>
            </a:pPr>
            <a:r>
              <a:rPr sz="1200" b="0" i="0">
                <a:solidFill>
                  <a:srgbClr val="0B0B0B"/>
                </a:solidFill>
                <a:latin typeface="Arial"/>
              </a:rPr>
              <a:t>— Published May 9, 2023 • Updated on March 25, 2025 at 5:10 pm</a:t>
            </a:r>
          </a:p>
          <a:p>
            <a:pPr>
              <a:spcAft>
                <a:spcPts val="600"/>
              </a:spcAft>
            </a:pPr>
            <a:r>
              <a:rPr sz="1200" b="0" i="0">
                <a:solidFill>
                  <a:srgbClr val="0B0B0B"/>
                </a:solidFill>
                <a:latin typeface="Arial"/>
              </a:rPr>
              <a:t>https://www.nbcnewyork.com/news/local/nbc-4-new-york-news-standards-and-publishing-princip · UNVERIFIED</a:t>
            </a:r>
          </a:p>
        </p:txBody>
      </p:sp>
      <p:sp>
        <p:nvSpPr>
          <p:cNvPr id="12" name="TextBox 11"/>
          <p:cNvSpPr txBox="1"/>
          <p:nvPr/>
        </p:nvSpPr>
        <p:spPr>
          <a:xfrm>
            <a:off x="548640" y="6263640"/>
            <a:ext cx="11064240" cy="365760"/>
          </a:xfrm>
          <a:prstGeom prst="rect">
            <a:avLst/>
          </a:prstGeom>
          <a:noFill/>
        </p:spPr>
        <p:txBody>
          <a:bodyPr wrap="square">
            <a:spAutoFit/>
          </a:bodyPr>
          <a:lstStyle/>
          <a:p>
            <a:pPr>
              <a:spcAft>
                <a:spcPts val="600"/>
              </a:spcAft>
            </a:pPr>
            <a:r>
              <a:rPr sz="1000" b="0" i="0">
                <a:solidFill>
                  <a:srgbClr val="8A8984"/>
                </a:solidFill>
                <a:latin typeface="Arial"/>
              </a:rPr>
              <a:t>Roles as commonly reported; attribution extracted automatically. Full list: workbook sheet 'Expert Voices'.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pPr>
              <a:spcAft>
                <a:spcPts val="600"/>
              </a:spcAft>
            </a:pPr>
            <a:r>
              <a:rPr sz="1200" b="0" i="0">
                <a:solidFill>
                  <a:srgbClr val="8A8984"/>
                </a:solidFill>
                <a:latin typeface="Arial"/>
              </a:rPr>
              <a:t>EXPERT VOICES</a:t>
            </a:r>
          </a:p>
        </p:txBody>
      </p:sp>
      <p:sp>
        <p:nvSpPr>
          <p:cNvPr id="3" name="TextBox 2"/>
          <p:cNvSpPr txBox="1"/>
          <p:nvPr/>
        </p:nvSpPr>
        <p:spPr>
          <a:xfrm>
            <a:off x="548640" y="594360"/>
            <a:ext cx="11064240" cy="822960"/>
          </a:xfrm>
          <a:prstGeom prst="rect">
            <a:avLst/>
          </a:prstGeom>
          <a:noFill/>
        </p:spPr>
        <p:txBody>
          <a:bodyPr wrap="square">
            <a:spAutoFit/>
          </a:bodyPr>
          <a:lstStyle/>
          <a:p>
            <a:pPr>
              <a:spcAft>
                <a:spcPts val="600"/>
              </a:spcAft>
            </a:pPr>
            <a:r>
              <a:rPr sz="3000" b="1" i="0">
                <a:solidFill>
                  <a:srgbClr val="0B0B0B"/>
                </a:solidFill>
                <a:latin typeface="Arial"/>
              </a:rPr>
              <a:t>Practitioners urging caution</a:t>
            </a:r>
          </a:p>
        </p:txBody>
      </p:sp>
      <p:sp>
        <p:nvSpPr>
          <p:cNvPr id="4" name="Rectangle 3"/>
          <p:cNvSpPr/>
          <p:nvPr/>
        </p:nvSpPr>
        <p:spPr>
          <a:xfrm>
            <a:off x="548640" y="1554480"/>
            <a:ext cx="5440680" cy="2194560"/>
          </a:xfrm>
          <a:prstGeom prst="rect">
            <a:avLst/>
          </a:prstGeom>
          <a:solidFill>
            <a:srgbClr val="FBE4E2"/>
          </a:solidFill>
          <a:ln>
            <a:solidFill>
              <a:srgbClr val="E4E3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645920"/>
            <a:ext cx="5166360" cy="2011680"/>
          </a:xfrm>
          <a:prstGeom prst="rect">
            <a:avLst/>
          </a:prstGeom>
          <a:noFill/>
        </p:spPr>
        <p:txBody>
          <a:bodyPr wrap="square">
            <a:spAutoFit/>
          </a:bodyPr>
          <a:lstStyle/>
          <a:p>
            <a:pPr>
              <a:spcAft>
                <a:spcPts val="600"/>
              </a:spcAft>
            </a:pPr>
            <a:r>
              <a:rPr sz="1200" b="0" i="1">
                <a:solidFill>
                  <a:srgbClr val="0B0B0B"/>
                </a:solidFill>
                <a:latin typeface="Arial"/>
              </a:rPr>
              <a:t>“It runs counter to our core mission of informing the public and creating the first draft of history.”</a:t>
            </a:r>
          </a:p>
          <a:p>
            <a:pPr>
              <a:spcAft>
                <a:spcPts val="600"/>
              </a:spcAft>
            </a:pPr>
            <a:r>
              <a:rPr sz="1200" b="0" i="0">
                <a:solidFill>
                  <a:srgbClr val="0B0B0B"/>
                </a:solidFill>
                <a:latin typeface="Arial"/>
              </a:rPr>
              <a:t>— Dan MacLeod</a:t>
            </a:r>
          </a:p>
          <a:p>
            <a:pPr>
              <a:spcAft>
                <a:spcPts val="600"/>
              </a:spcAft>
            </a:pPr>
            <a:r>
              <a:rPr sz="1200" b="0" i="0">
                <a:solidFill>
                  <a:srgbClr val="0B0B0B"/>
                </a:solidFill>
                <a:latin typeface="Arial"/>
              </a:rPr>
              <a:t>https://www.bangordailynews.com/2021/01/25/news/were-changing-our-policy-on-old-crime-stor · UNVERIFIED</a:t>
            </a:r>
          </a:p>
        </p:txBody>
      </p:sp>
      <p:sp>
        <p:nvSpPr>
          <p:cNvPr id="6" name="Rectangle 5"/>
          <p:cNvSpPr/>
          <p:nvPr/>
        </p:nvSpPr>
        <p:spPr>
          <a:xfrm>
            <a:off x="6172200" y="1554480"/>
            <a:ext cx="5440680" cy="2194560"/>
          </a:xfrm>
          <a:prstGeom prst="rect">
            <a:avLst/>
          </a:prstGeom>
          <a:solidFill>
            <a:srgbClr val="FBE4E2"/>
          </a:solidFill>
          <a:ln>
            <a:solidFill>
              <a:srgbClr val="E4E3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09360" y="1645920"/>
            <a:ext cx="5166360" cy="2011680"/>
          </a:xfrm>
          <a:prstGeom prst="rect">
            <a:avLst/>
          </a:prstGeom>
          <a:noFill/>
        </p:spPr>
        <p:txBody>
          <a:bodyPr wrap="square">
            <a:spAutoFit/>
          </a:bodyPr>
          <a:lstStyle/>
          <a:p>
            <a:pPr>
              <a:spcAft>
                <a:spcPts val="600"/>
              </a:spcAft>
            </a:pPr>
            <a:r>
              <a:rPr sz="1200" b="0" i="1">
                <a:solidFill>
                  <a:srgbClr val="0B0B0B"/>
                </a:solidFill>
                <a:latin typeface="Arial"/>
              </a:rPr>
              <a:t>“Yamin said editors at The Michigan Daily were typically “sticklers” about leaving published material untouched and refusing anonymity to students on either side of the debate over the war in Gaza, in order to have a permanent record of what sources or writers ”</a:t>
            </a:r>
          </a:p>
          <a:p>
            <a:pPr>
              <a:spcAft>
                <a:spcPts val="600"/>
              </a:spcAft>
            </a:pPr>
            <a:r>
              <a:rPr sz="1200" b="0" i="0">
                <a:solidFill>
                  <a:srgbClr val="0B0B0B"/>
                </a:solidFill>
                <a:latin typeface="Arial"/>
              </a:rPr>
              <a:t>— megan_cattel@harvard.edu</a:t>
            </a:r>
          </a:p>
          <a:p>
            <a:pPr>
              <a:spcAft>
                <a:spcPts val="600"/>
              </a:spcAft>
            </a:pPr>
            <a:r>
              <a:rPr sz="1200" b="0" i="0">
                <a:solidFill>
                  <a:srgbClr val="0B0B0B"/>
                </a:solidFill>
                <a:latin typeface="Arial"/>
              </a:rPr>
              <a:t>https://niemanreports.org/campus-newspapers-student-journalists-trump-editorial-policies-f · UNVERIFIED</a:t>
            </a:r>
          </a:p>
        </p:txBody>
      </p:sp>
      <p:sp>
        <p:nvSpPr>
          <p:cNvPr id="8" name="Rectangle 7"/>
          <p:cNvSpPr/>
          <p:nvPr/>
        </p:nvSpPr>
        <p:spPr>
          <a:xfrm>
            <a:off x="548640" y="3886200"/>
            <a:ext cx="5440680" cy="2194560"/>
          </a:xfrm>
          <a:prstGeom prst="rect">
            <a:avLst/>
          </a:prstGeom>
          <a:solidFill>
            <a:srgbClr val="FBE4E2"/>
          </a:solidFill>
          <a:ln>
            <a:solidFill>
              <a:srgbClr val="E4E3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3977639"/>
            <a:ext cx="5166360" cy="2011680"/>
          </a:xfrm>
          <a:prstGeom prst="rect">
            <a:avLst/>
          </a:prstGeom>
          <a:noFill/>
        </p:spPr>
        <p:txBody>
          <a:bodyPr wrap="square">
            <a:spAutoFit/>
          </a:bodyPr>
          <a:lstStyle/>
          <a:p>
            <a:pPr>
              <a:spcAft>
                <a:spcPts val="600"/>
              </a:spcAft>
            </a:pPr>
            <a:r>
              <a:rPr sz="1200" b="0" i="1">
                <a:solidFill>
                  <a:srgbClr val="0B0B0B"/>
                </a:solidFill>
                <a:latin typeface="Arial"/>
              </a:rPr>
              <a:t>“Rather than writing a blanket policy (“we’ll never change old crime stories” or “we’ll anonymize a story anytime a subject asks”), create an open-ended framework and come up with a list of questions to discuss for each case.”</a:t>
            </a:r>
          </a:p>
          <a:p>
            <a:pPr>
              <a:spcAft>
                <a:spcPts val="600"/>
              </a:spcAft>
            </a:pPr>
            <a:r>
              <a:rPr sz="1200" b="0" i="0">
                <a:solidFill>
                  <a:srgbClr val="0B0B0B"/>
                </a:solidFill>
                <a:latin typeface="Arial"/>
              </a:rPr>
              <a:t>— Taylor Blatchford</a:t>
            </a:r>
          </a:p>
          <a:p>
            <a:pPr>
              <a:spcAft>
                <a:spcPts val="600"/>
              </a:spcAft>
            </a:pPr>
            <a:r>
              <a:rPr sz="1200" b="0" i="0">
                <a:solidFill>
                  <a:srgbClr val="0B0B0B"/>
                </a:solidFill>
                <a:latin typeface="Arial"/>
              </a:rPr>
              <a:t>https://www.poynter.org/newsletters/2021/how-student-newsrooms-can-set-a-framework-for-req · UNVERIFIED</a:t>
            </a:r>
          </a:p>
        </p:txBody>
      </p:sp>
      <p:sp>
        <p:nvSpPr>
          <p:cNvPr id="10" name="Rectangle 9"/>
          <p:cNvSpPr/>
          <p:nvPr/>
        </p:nvSpPr>
        <p:spPr>
          <a:xfrm>
            <a:off x="6172200" y="3886200"/>
            <a:ext cx="5440680" cy="2194560"/>
          </a:xfrm>
          <a:prstGeom prst="rect">
            <a:avLst/>
          </a:prstGeom>
          <a:solidFill>
            <a:srgbClr val="FBE4E2"/>
          </a:solidFill>
          <a:ln>
            <a:solidFill>
              <a:srgbClr val="E4E3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0" y="3977639"/>
            <a:ext cx="5166360" cy="2011680"/>
          </a:xfrm>
          <a:prstGeom prst="rect">
            <a:avLst/>
          </a:prstGeom>
          <a:noFill/>
        </p:spPr>
        <p:txBody>
          <a:bodyPr wrap="square">
            <a:spAutoFit/>
          </a:bodyPr>
          <a:lstStyle/>
          <a:p>
            <a:pPr>
              <a:spcAft>
                <a:spcPts val="600"/>
              </a:spcAft>
            </a:pPr>
            <a:r>
              <a:rPr sz="1200" b="0" i="1">
                <a:solidFill>
                  <a:srgbClr val="0B0B0B"/>
                </a:solidFill>
                <a:latin typeface="Arial"/>
              </a:rPr>
              <a:t>“Source remorse is not a right reason to unpublish: We should not remove published information because sources change their minds about what they told a journalist, or decide, following publication, that they do not want news about them accessed through a searc”</a:t>
            </a:r>
          </a:p>
          <a:p>
            <a:pPr>
              <a:spcAft>
                <a:spcPts val="600"/>
              </a:spcAft>
            </a:pPr>
            <a:r>
              <a:rPr sz="1200" b="0" i="0">
                <a:solidFill>
                  <a:srgbClr val="0B0B0B"/>
                </a:solidFill>
                <a:latin typeface="Arial"/>
              </a:rPr>
              <a:t>— Monique Durette</a:t>
            </a:r>
          </a:p>
          <a:p>
            <a:pPr>
              <a:spcAft>
                <a:spcPts val="600"/>
              </a:spcAft>
            </a:pPr>
            <a:r>
              <a:rPr sz="1200" b="0" i="0">
                <a:solidFill>
                  <a:srgbClr val="0B0B0B"/>
                </a:solidFill>
                <a:latin typeface="Arial"/>
              </a:rPr>
              <a:t>https://caj.ca/fr/the-ethics-of-unpublishing/ · UNVERIFIED</a:t>
            </a:r>
          </a:p>
        </p:txBody>
      </p:sp>
      <p:sp>
        <p:nvSpPr>
          <p:cNvPr id="12" name="TextBox 11"/>
          <p:cNvSpPr txBox="1"/>
          <p:nvPr/>
        </p:nvSpPr>
        <p:spPr>
          <a:xfrm>
            <a:off x="548640" y="6263640"/>
            <a:ext cx="11064240" cy="365760"/>
          </a:xfrm>
          <a:prstGeom prst="rect">
            <a:avLst/>
          </a:prstGeom>
          <a:noFill/>
        </p:spPr>
        <p:txBody>
          <a:bodyPr wrap="square">
            <a:spAutoFit/>
          </a:bodyPr>
          <a:lstStyle/>
          <a:p>
            <a:pPr>
              <a:spcAft>
                <a:spcPts val="600"/>
              </a:spcAft>
            </a:pPr>
            <a:r>
              <a:rPr sz="1000" b="0" i="0">
                <a:solidFill>
                  <a:srgbClr val="8A8984"/>
                </a:solidFill>
                <a:latin typeface="Arial"/>
              </a:rPr>
              <a:t>Roles as commonly reported; attribution extracted automatically. Full list: workbook sheet 'Expert Voices'.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pPr>
              <a:spcAft>
                <a:spcPts val="600"/>
              </a:spcAft>
            </a:pPr>
            <a:r>
              <a:rPr sz="1200" b="0" i="0">
                <a:solidFill>
                  <a:srgbClr val="8A8984"/>
                </a:solidFill>
                <a:latin typeface="Arial"/>
              </a:rPr>
              <a:t>OPPOSING EVIDENCE</a:t>
            </a:r>
          </a:p>
        </p:txBody>
      </p:sp>
      <p:sp>
        <p:nvSpPr>
          <p:cNvPr id="3" name="TextBox 2"/>
          <p:cNvSpPr txBox="1"/>
          <p:nvPr/>
        </p:nvSpPr>
        <p:spPr>
          <a:xfrm>
            <a:off x="548640" y="594360"/>
            <a:ext cx="11064240" cy="822960"/>
          </a:xfrm>
          <a:prstGeom prst="rect">
            <a:avLst/>
          </a:prstGeom>
          <a:noFill/>
        </p:spPr>
        <p:txBody>
          <a:bodyPr wrap="square">
            <a:spAutoFit/>
          </a:bodyPr>
          <a:lstStyle/>
          <a:p>
            <a:pPr>
              <a:spcAft>
                <a:spcPts val="600"/>
              </a:spcAft>
            </a:pPr>
            <a:r>
              <a:rPr sz="3000" b="1" i="0">
                <a:solidFill>
                  <a:srgbClr val="0B0B0B"/>
                </a:solidFill>
                <a:latin typeface="Arial"/>
              </a:rPr>
              <a:t>The main objection: the archive is the historical record</a:t>
            </a:r>
          </a:p>
        </p:txBody>
      </p:sp>
      <p:sp>
        <p:nvSpPr>
          <p:cNvPr id="4" name="TextBox 3"/>
          <p:cNvSpPr txBox="1"/>
          <p:nvPr/>
        </p:nvSpPr>
        <p:spPr>
          <a:xfrm>
            <a:off x="548640" y="1645920"/>
            <a:ext cx="11064240" cy="3108960"/>
          </a:xfrm>
          <a:prstGeom prst="rect">
            <a:avLst/>
          </a:prstGeom>
          <a:noFill/>
        </p:spPr>
        <p:txBody>
          <a:bodyPr wrap="square">
            <a:spAutoFit/>
          </a:bodyPr>
          <a:lstStyle/>
          <a:p>
            <a:pPr>
              <a:spcAft>
                <a:spcPts val="600"/>
              </a:spcAft>
            </a:pPr>
            <a:r>
              <a:rPr sz="1600" b="0" i="0">
                <a:solidFill>
                  <a:srgbClr val="0B0B0B"/>
                </a:solidFill>
                <a:latin typeface="Arial"/>
              </a:rPr>
              <a:t>“Bynum said when the article was taken down, it was no longer relevant but being used against a victim of a crime, making the decision seem clearer.” — The Daily Illini</a:t>
            </a:r>
          </a:p>
          <a:p>
            <a:pPr>
              <a:spcAft>
                <a:spcPts val="600"/>
              </a:spcAft>
            </a:pPr>
            <a:r>
              <a:rPr sz="1600" b="0" i="0">
                <a:solidFill>
                  <a:srgbClr val="0B0B0B"/>
                </a:solidFill>
                <a:latin typeface="Arial"/>
              </a:rPr>
              <a:t>“Bynum said when the article was taken down, it was no longer relevant but being used against a victim of a crime, making the decision seem clearer.” — The Nevada Sagebrush</a:t>
            </a:r>
          </a:p>
          <a:p>
            <a:pPr>
              <a:spcAft>
                <a:spcPts val="600"/>
              </a:spcAft>
            </a:pPr>
            <a:r>
              <a:rPr sz="1600" b="0" i="0">
                <a:solidFill>
                  <a:srgbClr val="0B0B0B"/>
                </a:solidFill>
                <a:latin typeface="Arial"/>
              </a:rPr>
              <a:t>“Bynum said when the article was taken down, it was no longer relevant but being used against a victim of a crime, making the decision seem clearer.” — Niles West News</a:t>
            </a:r>
          </a:p>
        </p:txBody>
      </p:sp>
      <p:sp>
        <p:nvSpPr>
          <p:cNvPr id="5" name="TextBox 4"/>
          <p:cNvSpPr txBox="1"/>
          <p:nvPr/>
        </p:nvSpPr>
        <p:spPr>
          <a:xfrm>
            <a:off x="548640" y="4846320"/>
            <a:ext cx="11064240" cy="1280160"/>
          </a:xfrm>
          <a:prstGeom prst="rect">
            <a:avLst/>
          </a:prstGeom>
          <a:noFill/>
        </p:spPr>
        <p:txBody>
          <a:bodyPr wrap="square">
            <a:spAutoFit/>
          </a:bodyPr>
          <a:lstStyle/>
          <a:p>
            <a:pPr>
              <a:spcAft>
                <a:spcPts val="600"/>
              </a:spcAft>
            </a:pPr>
            <a:r>
              <a:rPr sz="1600" b="0" i="0">
                <a:solidFill>
                  <a:srgbClr val="52514E"/>
                </a:solidFill>
                <a:latin typeface="Arial"/>
              </a:rPr>
              <a:t>In this dataset, 5 organization(s) allow or practice de-indexing or anonymization while keeping the article published; 1 organization(s) explicitly reject unpublishing.</a:t>
            </a:r>
          </a:p>
          <a:p>
            <a:pPr>
              <a:spcAft>
                <a:spcPts val="600"/>
              </a:spcAft>
            </a:pPr>
            <a:r>
              <a:rPr sz="1600" b="0" i="0">
                <a:solidFill>
                  <a:srgbClr val="52514E"/>
                </a:solidFill>
                <a:latin typeface="Arial"/>
              </a:rPr>
              <a:t>De-indexing and anonymization leave the published record in place.</a:t>
            </a:r>
          </a:p>
        </p:txBody>
      </p:sp>
      <p:sp>
        <p:nvSpPr>
          <p:cNvPr id="6" name="TextBox 5"/>
          <p:cNvSpPr txBox="1"/>
          <p:nvPr/>
        </p:nvSpPr>
        <p:spPr>
          <a:xfrm>
            <a:off x="548640" y="6263640"/>
            <a:ext cx="11064240" cy="365760"/>
          </a:xfrm>
          <a:prstGeom prst="rect">
            <a:avLst/>
          </a:prstGeom>
          <a:noFill/>
        </p:spPr>
        <p:txBody>
          <a:bodyPr wrap="square">
            <a:spAutoFit/>
          </a:bodyPr>
          <a:lstStyle/>
          <a:p>
            <a:pPr>
              <a:spcAft>
                <a:spcPts val="600"/>
              </a:spcAft>
            </a:pPr>
            <a:r>
              <a:rPr sz="1000" b="0" i="0">
                <a:solidFill>
                  <a:srgbClr val="8A8984"/>
                </a:solidFill>
                <a:latin typeface="Arial"/>
              </a:rPr>
              <a:t>All 313 opposing excerpts: workbook sheet 'Opposing Evidence'.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pPr>
              <a:spcAft>
                <a:spcPts val="600"/>
              </a:spcAft>
            </a:pPr>
            <a:r>
              <a:rPr sz="1200" b="0" i="0">
                <a:solidFill>
                  <a:srgbClr val="8A8984"/>
                </a:solidFill>
                <a:latin typeface="Arial"/>
              </a:rPr>
              <a:t>MEASURED, NOT ASSUMED</a:t>
            </a:r>
          </a:p>
        </p:txBody>
      </p:sp>
      <p:sp>
        <p:nvSpPr>
          <p:cNvPr id="3" name="TextBox 2"/>
          <p:cNvSpPr txBox="1"/>
          <p:nvPr/>
        </p:nvSpPr>
        <p:spPr>
          <a:xfrm>
            <a:off x="548640" y="594360"/>
            <a:ext cx="11064240" cy="822960"/>
          </a:xfrm>
          <a:prstGeom prst="rect">
            <a:avLst/>
          </a:prstGeom>
          <a:noFill/>
        </p:spPr>
        <p:txBody>
          <a:bodyPr wrap="square">
            <a:spAutoFit/>
          </a:bodyPr>
          <a:lstStyle/>
          <a:p>
            <a:pPr>
              <a:spcAft>
                <a:spcPts val="600"/>
              </a:spcAft>
            </a:pPr>
            <a:r>
              <a:rPr sz="3000" b="1" i="0">
                <a:solidFill>
                  <a:srgbClr val="0B0B0B"/>
                </a:solidFill>
                <a:latin typeface="Arial"/>
              </a:rPr>
              <a:t>How accurate is the automated classification?</a:t>
            </a:r>
          </a:p>
        </p:txBody>
      </p:sp>
      <p:sp>
        <p:nvSpPr>
          <p:cNvPr id="4" name="TextBox 3"/>
          <p:cNvSpPr txBox="1"/>
          <p:nvPr/>
        </p:nvSpPr>
        <p:spPr>
          <a:xfrm>
            <a:off x="548640" y="1737360"/>
            <a:ext cx="11064240" cy="1828800"/>
          </a:xfrm>
          <a:prstGeom prst="rect">
            <a:avLst/>
          </a:prstGeom>
          <a:noFill/>
        </p:spPr>
        <p:txBody>
          <a:bodyPr wrap="square">
            <a:spAutoFit/>
          </a:bodyPr>
          <a:lstStyle/>
          <a:p>
            <a:pPr>
              <a:spcAft>
                <a:spcPts val="600"/>
              </a:spcAft>
            </a:pPr>
            <a:r>
              <a:rPr sz="2000" b="0" i="0">
                <a:solidFill>
                  <a:srgbClr val="52514E"/>
                </a:solidFill>
                <a:latin typeface="Arial"/>
              </a:rPr>
              <a:t>Not yet measured. Run `nsmpa audit sample`, label the sample, and rebuild the packet.</a:t>
            </a:r>
          </a:p>
        </p:txBody>
      </p:sp>
      <p:sp>
        <p:nvSpPr>
          <p:cNvPr id="5" name="TextBox 4"/>
          <p:cNvSpPr txBox="1"/>
          <p:nvPr/>
        </p:nvSpPr>
        <p:spPr>
          <a:xfrm>
            <a:off x="548640" y="6263640"/>
            <a:ext cx="11064240" cy="365760"/>
          </a:xfrm>
          <a:prstGeom prst="rect">
            <a:avLst/>
          </a:prstGeom>
          <a:noFill/>
        </p:spPr>
        <p:txBody>
          <a:bodyPr wrap="square">
            <a:spAutoFit/>
          </a:bodyPr>
          <a:lstStyle/>
          <a:p>
            <a:pPr>
              <a:spcAft>
                <a:spcPts val="600"/>
              </a:spcAft>
            </a:pPr>
            <a:r>
              <a:rPr sz="1000" b="0" i="0">
                <a:solidFill>
                  <a:srgbClr val="8A8984"/>
                </a:solidFill>
                <a:latin typeface="Arial"/>
              </a:rPr>
              <a:t>Workbook sheet 'Accuracy'.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pPr>
              <a:spcAft>
                <a:spcPts val="600"/>
              </a:spcAft>
            </a:pPr>
            <a:r>
              <a:rPr sz="1200" b="0" i="0">
                <a:solidFill>
                  <a:srgbClr val="8A8984"/>
                </a:solidFill>
                <a:latin typeface="Arial"/>
              </a:rPr>
              <a:t>READ BEFORE RELYING ON IT</a:t>
            </a:r>
          </a:p>
        </p:txBody>
      </p:sp>
      <p:sp>
        <p:nvSpPr>
          <p:cNvPr id="3" name="TextBox 2"/>
          <p:cNvSpPr txBox="1"/>
          <p:nvPr/>
        </p:nvSpPr>
        <p:spPr>
          <a:xfrm>
            <a:off x="548640" y="594360"/>
            <a:ext cx="11064240" cy="822960"/>
          </a:xfrm>
          <a:prstGeom prst="rect">
            <a:avLst/>
          </a:prstGeom>
          <a:noFill/>
        </p:spPr>
        <p:txBody>
          <a:bodyPr wrap="square">
            <a:spAutoFit/>
          </a:bodyPr>
          <a:lstStyle/>
          <a:p>
            <a:pPr>
              <a:spcAft>
                <a:spcPts val="600"/>
              </a:spcAft>
            </a:pPr>
            <a:r>
              <a:rPr sz="3000" b="1" i="0">
                <a:solidFill>
                  <a:srgbClr val="0B0B0B"/>
                </a:solidFill>
                <a:latin typeface="Arial"/>
              </a:rPr>
              <a:t>Limits of this evidence</a:t>
            </a:r>
          </a:p>
        </p:txBody>
      </p:sp>
      <p:sp>
        <p:nvSpPr>
          <p:cNvPr id="4" name="TextBox 3"/>
          <p:cNvSpPr txBox="1"/>
          <p:nvPr/>
        </p:nvSpPr>
        <p:spPr>
          <a:xfrm>
            <a:off x="548640" y="1645920"/>
            <a:ext cx="11064240" cy="4480560"/>
          </a:xfrm>
          <a:prstGeom prst="rect">
            <a:avLst/>
          </a:prstGeom>
          <a:noFill/>
        </p:spPr>
        <p:txBody>
          <a:bodyPr wrap="square">
            <a:spAutoFit/>
          </a:bodyPr>
          <a:lstStyle/>
          <a:p>
            <a:pPr>
              <a:spcAft>
                <a:spcPts val="600"/>
              </a:spcAft>
            </a:pPr>
            <a:r>
              <a:rPr sz="1600" b="0" i="0">
                <a:solidFill>
                  <a:srgbClr val="0B0B0B"/>
                </a:solidFill>
                <a:latin typeface="Arial"/>
              </a:rPr>
              <a:t>• Automated extraction; every quote used publicly should be confirmed against the live page or snapshot.</a:t>
            </a:r>
          </a:p>
          <a:p>
            <a:pPr>
              <a:spcAft>
                <a:spcPts val="600"/>
              </a:spcAft>
            </a:pPr>
            <a:r>
              <a:rPr sz="1600" b="0" i="0">
                <a:solidFill>
                  <a:srgbClr val="0B0B0B"/>
                </a:solidFill>
                <a:latin typeface="Arial"/>
              </a:rPr>
              <a:t>• Professional newsroom group is a sourced panel, not a census of U.S. journalism.</a:t>
            </a:r>
          </a:p>
          <a:p>
            <a:pPr>
              <a:spcAft>
                <a:spcPts val="600"/>
              </a:spcAft>
            </a:pPr>
            <a:r>
              <a:rPr sz="1600" b="0" i="0">
                <a:solidFill>
                  <a:srgbClr val="0B0B0B"/>
                </a:solidFill>
                <a:latin typeface="Arial"/>
              </a:rPr>
              <a:t>• Absence of a written policy is not evidence of a practice either way.</a:t>
            </a:r>
          </a:p>
          <a:p>
            <a:pPr>
              <a:spcAft>
                <a:spcPts val="600"/>
              </a:spcAft>
            </a:pPr>
            <a:r>
              <a:rPr sz="1600" b="0" i="0">
                <a:solidFill>
                  <a:srgbClr val="0B0B0B"/>
                </a:solidFill>
                <a:latin typeface="Arial"/>
              </a:rPr>
              <a:t>• Absence from Google is never treated as de-indexing; only noindex directives on the page itself are counted.</a:t>
            </a:r>
          </a:p>
          <a:p>
            <a:pPr>
              <a:spcAft>
                <a:spcPts val="600"/>
              </a:spcAft>
            </a:pPr>
            <a:r>
              <a:rPr sz="1600" b="0" i="0">
                <a:solidFill>
                  <a:srgbClr val="0B0B0B"/>
                </a:solidFill>
                <a:latin typeface="Arial"/>
              </a:rPr>
              <a:t>• Student media: preliminary — publication discovery coverage; minimum researched entities; research coverage of universe</a:t>
            </a:r>
          </a:p>
          <a:p>
            <a:pPr>
              <a:spcAft>
                <a:spcPts val="600"/>
              </a:spcAft>
            </a:pPr>
            <a:r>
              <a:rPr sz="1600" b="0" i="0">
                <a:solidFill>
                  <a:srgbClr val="0B0B0B"/>
                </a:solidFill>
                <a:latin typeface="Arial"/>
              </a:rPr>
              <a:t>• Professional newsrooms: preliminary — minimum researched entities; research coverage of universe; human review of findings</a:t>
            </a:r>
          </a:p>
          <a:p>
            <a:pPr>
              <a:spcAft>
                <a:spcPts val="600"/>
              </a:spcAft>
            </a:pPr>
            <a:r>
              <a:rPr sz="1600" b="0" i="0">
                <a:solidFill>
                  <a:srgbClr val="0B0B0B"/>
                </a:solidFill>
                <a:latin typeface="Arial"/>
              </a:rPr>
              <a:t>• Broadcast newsrooms: preliminary — minimum researched entities; research coverage of universe; undetermined rate</a:t>
            </a:r>
          </a:p>
          <a:p>
            <a:pPr>
              <a:spcAft>
                <a:spcPts val="600"/>
              </a:spcAft>
            </a:pPr>
            <a:r>
              <a:rPr sz="1600" b="0" i="0">
                <a:solidFill>
                  <a:srgbClr val="0B0B0B"/>
                </a:solidFill>
                <a:latin typeface="Arial"/>
              </a:rPr>
              <a:t>• Standards &amp; support orgs: preliminary — minimum researched entities; research coverage of universe; human review of findings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