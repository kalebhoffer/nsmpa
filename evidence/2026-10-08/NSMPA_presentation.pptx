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Policy: de-index/anonymize</c:v>
                </c:pt>
              </c:strCache>
            </c:strRef>
          </c:tx>
          <c:spPr>
            <a:solidFill>
              <a:srgbClr val="2A78D6"/>
            </a:solidFill>
          </c:spP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cat>
            <c:strRef>
              <c:f>Sheet1!$A$2:$A$4</c:f>
              <c:strCache>
                <c:ptCount val="3"/>
                <c:pt idx="0">
                  <c:v>Student media</c:v>
                </c:pt>
                <c:pt idx="1">
                  <c:v>Professional newsrooms</c:v>
                </c:pt>
                <c:pt idx="2">
                  <c:v>Standards &amp; support orgs</c:v>
                </c:pt>
              </c:strCache>
            </c:strRef>
          </c:cat>
          <c:val>
            <c:numRef>
              <c:f>Sheet1!$B$2:$B$4</c:f>
              <c:numCache>
                <c:formatCode>General</c:formatCode>
                <c:ptCount val="3"/>
                <c:pt idx="0">
                  <c:v>1</c:v>
                </c:pt>
                <c:pt idx="1">
                  <c:v>4</c:v>
                </c:pt>
                <c:pt idx="2">
                  <c:v>4</c:v>
                </c:pt>
              </c:numCache>
            </c:numRef>
          </c:val>
        </c:ser>
        <c:ser>
          <c:idx val="1"/>
          <c:order val="1"/>
          <c:tx>
            <c:strRef>
              <c:f>Sheet1!$C$1</c:f>
              <c:strCache>
                <c:ptCount val="1"/>
                <c:pt idx="0">
                  <c:v>Practice: de-index/anonymize</c:v>
                </c:pt>
              </c:strCache>
            </c:strRef>
          </c:tx>
          <c:spPr>
            <a:solidFill>
              <a:srgbClr val="EB6834"/>
            </a:solidFill>
          </c:spP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cat>
            <c:strRef>
              <c:f>Sheet1!$A$2:$A$4</c:f>
              <c:strCache>
                <c:ptCount val="3"/>
                <c:pt idx="0">
                  <c:v>Student media</c:v>
                </c:pt>
                <c:pt idx="1">
                  <c:v>Professional newsrooms</c:v>
                </c:pt>
                <c:pt idx="2">
                  <c:v>Standards &amp; support orgs</c:v>
                </c:pt>
              </c:strCache>
            </c:strRef>
          </c:cat>
          <c:val>
            <c:numRef>
              <c:f>Sheet1!$C$2:$C$4</c:f>
              <c:numCache>
                <c:formatCode>General</c:formatCode>
                <c:ptCount val="3"/>
                <c:pt idx="0">
                  <c:v>0</c:v>
                </c:pt>
                <c:pt idx="1">
                  <c:v>0</c:v>
                </c:pt>
                <c:pt idx="2">
                  <c:v>0</c:v>
                </c:pt>
              </c:numCache>
            </c:numRef>
          </c:val>
        </c:ser>
        <c:ser>
          <c:idx val="2"/>
          <c:order val="2"/>
          <c:tx>
            <c:strRef>
              <c:f>Sheet1!$D$1</c:f>
              <c:strCache>
                <c:ptCount val="1"/>
                <c:pt idx="0">
                  <c:v>Policy: unpublish</c:v>
                </c:pt>
              </c:strCache>
            </c:strRef>
          </c:tx>
          <c:spPr>
            <a:solidFill>
              <a:srgbClr val="1BAF7A"/>
            </a:solidFill>
          </c:spP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cat>
            <c:strRef>
              <c:f>Sheet1!$A$2:$A$4</c:f>
              <c:strCache>
                <c:ptCount val="3"/>
                <c:pt idx="0">
                  <c:v>Student media</c:v>
                </c:pt>
                <c:pt idx="1">
                  <c:v>Professional newsrooms</c:v>
                </c:pt>
                <c:pt idx="2">
                  <c:v>Standards &amp; support orgs</c:v>
                </c:pt>
              </c:strCache>
            </c:strRef>
          </c:cat>
          <c:val>
            <c:numRef>
              <c:f>Sheet1!$D$2:$D$4</c:f>
              <c:numCache>
                <c:formatCode>General</c:formatCode>
                <c:ptCount val="3"/>
                <c:pt idx="0">
                  <c:v>0</c:v>
                </c:pt>
                <c:pt idx="1">
                  <c:v>3</c:v>
                </c:pt>
                <c:pt idx="2">
                  <c:v>3</c:v>
                </c:pt>
              </c:numCache>
            </c:numRef>
          </c:val>
        </c:ser>
        <c:gapWidth val="60"/>
        <c:overlap val="-8"/>
        <c:axId val="-2068027336"/>
        <c:axId val="-2113994440"/>
      </c:barChart>
      <c:catAx>
        <c:axId val="-2068027336"/>
        <c:scaling>
          <c:orientation val="maxMin"/>
        </c:scaling>
        <c:delete val="0"/>
        <c:axPos val="l"/>
        <c:majorTickMark val="out"/>
        <c:minorTickMark val="none"/>
        <c:tickLblPos val="nextTo"/>
        <c:spPr>
          <a:ln>
            <a:solidFill>
              <a:srgbClr val="C9C8C3"/>
            </a:solidFill>
          </a:ln>
        </c:spPr>
        <c:txPr>
          <a:bodyPr/>
          <a:lstStyle/>
          <a:p>
            <a:pPr>
              <a:defRPr sz="1300"/>
            </a:pPr>
          </a:p>
        </c:txPr>
        <c:crossAx val="-2113994440"/>
        <c:crosses val="autoZero"/>
        <c:auto val="1"/>
        <c:lblAlgn val="ctr"/>
        <c:lblOffset val="100"/>
        <c:noMultiLvlLbl val="0"/>
      </c:catAx>
      <c:valAx>
        <c:axId val="-2113994440"/>
        <c:scaling>
          <c:min val="0.0"/>
        </c:scaling>
        <c:delete val="0"/>
        <c:axPos val="b"/>
        <c:majorGridlines>
          <c:spPr>
            <a:ln>
              <a:solidFill>
                <a:srgbClr val="ECEBE7"/>
              </a:solidFill>
            </a:ln>
          </c:spPr>
        </c:majorGridlines>
        <c:majorTickMark val="out"/>
        <c:minorTickMark val="none"/>
        <c:tickLblPos val="nextTo"/>
        <c:spPr>
          <a:ln>
            <a:noFill/>
          </a:ln>
        </c:spPr>
        <c:txPr>
          <a:bodyPr/>
          <a:lstStyle/>
          <a:p>
            <a:pPr>
              <a:defRPr sz="1100">
                <a:solidFill>
                  <a:srgbClr val="8A8984"/>
                </a:solidFill>
              </a:defRPr>
            </a:pPr>
          </a:p>
        </c:txPr>
        <c:crossAx val="-2068027336"/>
        <c:crosses val="autoZero"/>
        <c:majorUnit val="1.0"/>
      </c:valAx>
    </c:plotArea>
    <c:legend>
      <c:legendPos val="b"/>
      <c:overlay val="0"/>
      <c:txPr>
        <a:bodyPr/>
        <a:lstStyle/>
        <a:p>
          <a:pPr>
            <a:defRPr sz="13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Student media</c:v>
                </c:pt>
              </c:strCache>
            </c:strRef>
          </c:tx>
          <c:spPr>
            <a:solidFill>
              <a:srgbClr val="2A78D6"/>
            </a:solidFill>
          </c:spPr>
          <c:dLbls>
            <c:numFmt formatCode="0;;;" sourceLinked="0"/>
            <c:txPr>
              <a:bodyPr/>
              <a:lstStyle/>
              <a:p>
                <a:pPr>
                  <a:defRPr sz="1100"/>
                </a:pPr>
              </a:p>
            </c:txPr>
            <c:dLblPos val="outEnd"/>
            <c:showLegendKey val="0"/>
            <c:showVal val="1"/>
            <c:showCatName val="0"/>
            <c:showSerName val="0"/>
            <c:showPercent val="0"/>
            <c:showBubbleSize val="0"/>
            <c:showLeaderLines val="1"/>
          </c:dLbls>
          <c:cat>
            <c:strRef>
              <c:f>Sheet1!$A$2:$A$6</c:f>
              <c:strCache>
                <c:ptCount val="5"/>
                <c:pt idx="0">
                  <c:v>De-index/anonymize, archive kept</c:v>
                </c:pt>
                <c:pt idx="1">
                  <c:v>Unpublishing permitted</c:v>
                </c:pt>
                <c:pt idx="2">
                  <c:v>Update / editor's note only</c:v>
                </c:pt>
                <c:pt idx="3">
                  <c:v>No relief</c:v>
                </c:pt>
                <c:pt idx="4">
                  <c:v>Not addressed</c:v>
                </c:pt>
              </c:strCache>
            </c:strRef>
          </c:cat>
          <c:val>
            <c:numRef>
              <c:f>Sheet1!$B$2:$B$6</c:f>
              <c:numCache>
                <c:formatCode>General</c:formatCode>
                <c:ptCount val="5"/>
                <c:pt idx="0">
                  <c:v>1</c:v>
                </c:pt>
                <c:pt idx="1">
                  <c:v>0</c:v>
                </c:pt>
                <c:pt idx="2">
                  <c:v>4</c:v>
                </c:pt>
                <c:pt idx="3">
                  <c:v>0</c:v>
                </c:pt>
                <c:pt idx="4">
                  <c:v>1</c:v>
                </c:pt>
              </c:numCache>
            </c:numRef>
          </c:val>
        </c:ser>
        <c:ser>
          <c:idx val="1"/>
          <c:order val="1"/>
          <c:tx>
            <c:strRef>
              <c:f>Sheet1!$C$1</c:f>
              <c:strCache>
                <c:ptCount val="1"/>
                <c:pt idx="0">
                  <c:v>Professional newsrooms</c:v>
                </c:pt>
              </c:strCache>
            </c:strRef>
          </c:tx>
          <c:spPr>
            <a:solidFill>
              <a:srgbClr val="EB6834"/>
            </a:solidFill>
          </c:spPr>
          <c:dLbls>
            <c:numFmt formatCode="0;;;" sourceLinked="0"/>
            <c:txPr>
              <a:bodyPr/>
              <a:lstStyle/>
              <a:p>
                <a:pPr>
                  <a:defRPr sz="1100"/>
                </a:pPr>
              </a:p>
            </c:txPr>
            <c:dLblPos val="outEnd"/>
            <c:showLegendKey val="0"/>
            <c:showVal val="1"/>
            <c:showCatName val="0"/>
            <c:showSerName val="0"/>
            <c:showPercent val="0"/>
            <c:showBubbleSize val="0"/>
            <c:showLeaderLines val="1"/>
          </c:dLbls>
          <c:cat>
            <c:strRef>
              <c:f>Sheet1!$A$2:$A$6</c:f>
              <c:strCache>
                <c:ptCount val="5"/>
                <c:pt idx="0">
                  <c:v>De-index/anonymize, archive kept</c:v>
                </c:pt>
                <c:pt idx="1">
                  <c:v>Unpublishing permitted</c:v>
                </c:pt>
                <c:pt idx="2">
                  <c:v>Update / editor's note only</c:v>
                </c:pt>
                <c:pt idx="3">
                  <c:v>No relief</c:v>
                </c:pt>
                <c:pt idx="4">
                  <c:v>Not addressed</c:v>
                </c:pt>
              </c:strCache>
            </c:strRef>
          </c:cat>
          <c:val>
            <c:numRef>
              <c:f>Sheet1!$C$2:$C$6</c:f>
              <c:numCache>
                <c:formatCode>General</c:formatCode>
                <c:ptCount val="5"/>
                <c:pt idx="0">
                  <c:v>3</c:v>
                </c:pt>
                <c:pt idx="1">
                  <c:v>2</c:v>
                </c:pt>
                <c:pt idx="2">
                  <c:v>0</c:v>
                </c:pt>
                <c:pt idx="3">
                  <c:v>0</c:v>
                </c:pt>
                <c:pt idx="4">
                  <c:v>1</c:v>
                </c:pt>
              </c:numCache>
            </c:numRef>
          </c:val>
        </c:ser>
        <c:ser>
          <c:idx val="2"/>
          <c:order val="2"/>
          <c:tx>
            <c:strRef>
              <c:f>Sheet1!$D$1</c:f>
              <c:strCache>
                <c:ptCount val="1"/>
                <c:pt idx="0">
                  <c:v>Standards &amp; support orgs</c:v>
                </c:pt>
              </c:strCache>
            </c:strRef>
          </c:tx>
          <c:spPr>
            <a:solidFill>
              <a:srgbClr val="1BAF7A"/>
            </a:solidFill>
          </c:spPr>
          <c:dLbls>
            <c:numFmt formatCode="0;;;" sourceLinked="0"/>
            <c:txPr>
              <a:bodyPr/>
              <a:lstStyle/>
              <a:p>
                <a:pPr>
                  <a:defRPr sz="1100"/>
                </a:pPr>
              </a:p>
            </c:txPr>
            <c:dLblPos val="outEnd"/>
            <c:showLegendKey val="0"/>
            <c:showVal val="1"/>
            <c:showCatName val="0"/>
            <c:showSerName val="0"/>
            <c:showPercent val="0"/>
            <c:showBubbleSize val="0"/>
            <c:showLeaderLines val="1"/>
          </c:dLbls>
          <c:cat>
            <c:strRef>
              <c:f>Sheet1!$A$2:$A$6</c:f>
              <c:strCache>
                <c:ptCount val="5"/>
                <c:pt idx="0">
                  <c:v>De-index/anonymize, archive kept</c:v>
                </c:pt>
                <c:pt idx="1">
                  <c:v>Unpublishing permitted</c:v>
                </c:pt>
                <c:pt idx="2">
                  <c:v>Update / editor's note only</c:v>
                </c:pt>
                <c:pt idx="3">
                  <c:v>No relief</c:v>
                </c:pt>
                <c:pt idx="4">
                  <c:v>Not addressed</c:v>
                </c:pt>
              </c:strCache>
            </c:strRef>
          </c:cat>
          <c:val>
            <c:numRef>
              <c:f>Sheet1!$D$2:$D$6</c:f>
              <c:numCache>
                <c:formatCode>General</c:formatCode>
                <c:ptCount val="5"/>
                <c:pt idx="0">
                  <c:v>3</c:v>
                </c:pt>
                <c:pt idx="1">
                  <c:v>4</c:v>
                </c:pt>
                <c:pt idx="2">
                  <c:v>1</c:v>
                </c:pt>
                <c:pt idx="3">
                  <c:v>1</c:v>
                </c:pt>
                <c:pt idx="4">
                  <c:v>37</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C9C8C3"/>
            </a:solidFill>
          </a:ln>
        </c:spPr>
        <c:txPr>
          <a:bodyPr/>
          <a:lstStyle/>
          <a:p>
            <a:pPr>
              <a:defRPr sz="1300"/>
            </a:pPr>
          </a:p>
        </c:txPr>
        <c:crossAx val="-2113994440"/>
        <c:crosses val="autoZero"/>
        <c:auto val="1"/>
        <c:lblAlgn val="ctr"/>
        <c:lblOffset val="100"/>
        <c:noMultiLvlLbl val="0"/>
      </c:catAx>
      <c:valAx>
        <c:axId val="-2113994440"/>
        <c:scaling>
          <c:min val="0.0"/>
        </c:scaling>
        <c:delete val="0"/>
        <c:axPos val="b"/>
        <c:majorGridlines>
          <c:spPr>
            <a:ln>
              <a:solidFill>
                <a:srgbClr val="ECEBE7"/>
              </a:solidFill>
            </a:ln>
          </c:spPr>
        </c:majorGridlines>
        <c:majorTickMark val="out"/>
        <c:minorTickMark val="none"/>
        <c:tickLblPos val="nextTo"/>
        <c:spPr>
          <a:ln>
            <a:noFill/>
          </a:ln>
        </c:spPr>
        <c:txPr>
          <a:bodyPr/>
          <a:lstStyle/>
          <a:p>
            <a:pPr>
              <a:defRPr sz="1100">
                <a:solidFill>
                  <a:srgbClr val="8A8984"/>
                </a:solidFill>
              </a:defRPr>
            </a:pPr>
          </a:p>
        </c:txPr>
        <c:crossAx val="-2068027336"/>
        <c:crosses val="autoZero"/>
      </c:valAx>
    </c:plotArea>
    <c:legend>
      <c:legendPos val="b"/>
      <c:overlay val="0"/>
      <c:txPr>
        <a:bodyPr/>
        <a:lstStyle/>
        <a:p>
          <a:pPr>
            <a:defRPr sz="13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EVIDENCE BRIEFING · 2026-10-08 18:30 UTC</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NSMPA evidence snapshot, 8 October 2026</a:t>
            </a:r>
          </a:p>
        </p:txBody>
      </p:sp>
      <p:sp>
        <p:nvSpPr>
          <p:cNvPr id="4" name="TextBox 3"/>
          <p:cNvSpPr txBox="1"/>
          <p:nvPr/>
        </p:nvSpPr>
        <p:spPr>
          <a:xfrm>
            <a:off x="548640" y="2011680"/>
            <a:ext cx="10972800" cy="2286000"/>
          </a:xfrm>
          <a:prstGeom prst="rect">
            <a:avLst/>
          </a:prstGeom>
          <a:noFill/>
        </p:spPr>
        <p:txBody>
          <a:bodyPr wrap="square">
            <a:spAutoFit/>
          </a:bodyPr>
          <a:lstStyle/>
          <a:p>
            <a:pPr>
              <a:spcAft>
                <a:spcPts val="600"/>
              </a:spcAft>
            </a:pPr>
            <a:r>
              <a:rPr sz="2000" b="0" i="0">
                <a:solidFill>
                  <a:srgbClr val="52514E"/>
                </a:solidFill>
                <a:latin typeface="Arial"/>
              </a:rPr>
              <a:t>How U.S. journalism organizations handle requests to de-index, anonymize, update or remove truthful archived reporting after circumstances change.</a:t>
            </a:r>
          </a:p>
          <a:p>
            <a:pPr>
              <a:spcAft>
                <a:spcPts val="600"/>
              </a:spcAft>
            </a:pPr>
            <a:r>
              <a:rPr sz="2000" b="0" i="0">
                <a:solidFill>
                  <a:srgbClr val="52514E"/>
                </a:solidFill>
                <a:latin typeface="Arial"/>
              </a:rPr>
              <a:t>Every statement in this deck is drawn from a source listed in the accompanying workbook, with its URL, fetch time and page hash.</a:t>
            </a:r>
          </a:p>
        </p:txBody>
      </p:sp>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Prepared with NSMPA 0.7.4 · scope: latest stance per entity (excluded runs omitted) · names of private individuals withheld (automated redaction)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CASE PROFILE</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The situation this evidence is matched against</a:t>
            </a:r>
          </a:p>
        </p:txBody>
      </p:sp>
      <p:sp>
        <p:nvSpPr>
          <p:cNvPr id="4" name="TextBox 3"/>
          <p:cNvSpPr txBox="1"/>
          <p:nvPr/>
        </p:nvSpPr>
        <p:spPr>
          <a:xfrm>
            <a:off x="548640" y="1645920"/>
            <a:ext cx="5669280" cy="4389120"/>
          </a:xfrm>
          <a:prstGeom prst="rect">
            <a:avLst/>
          </a:prstGeom>
          <a:noFill/>
        </p:spPr>
        <p:txBody>
          <a:bodyPr wrap="square">
            <a:spAutoFit/>
          </a:bodyPr>
          <a:lstStyle/>
          <a:p>
            <a:pPr>
              <a:spcAft>
                <a:spcPts val="600"/>
              </a:spcAft>
            </a:pPr>
            <a:r>
              <a:rPr sz="1800" b="1" i="0">
                <a:solidFill>
                  <a:srgbClr val="0B0B0B"/>
                </a:solidFill>
                <a:latin typeface="Arial"/>
              </a:rPr>
              <a:t>Facts:</a:t>
            </a:r>
          </a:p>
          <a:p>
            <a:pPr>
              <a:spcAft>
                <a:spcPts val="600"/>
              </a:spcAft>
            </a:pPr>
            <a:r>
              <a:rPr sz="1800" b="0" i="0">
                <a:solidFill>
                  <a:srgbClr val="0B0B0B"/>
                </a:solidFill>
                <a:latin typeface="Arial"/>
              </a:rPr>
              <a:t>• Student / university setting</a:t>
            </a:r>
          </a:p>
          <a:p>
            <a:pPr>
              <a:spcAft>
                <a:spcPts val="600"/>
              </a:spcAft>
            </a:pPr>
            <a:r>
              <a:rPr sz="1800" b="0" i="0">
                <a:solidFill>
                  <a:srgbClr val="0B0B0B"/>
                </a:solidFill>
                <a:latin typeface="Arial"/>
              </a:rPr>
              <a:t>• Criminal allegation or arrest</a:t>
            </a:r>
          </a:p>
          <a:p>
            <a:pPr>
              <a:spcAft>
                <a:spcPts val="600"/>
              </a:spcAft>
            </a:pPr>
            <a:r>
              <a:rPr sz="1800" b="0" i="0">
                <a:solidFill>
                  <a:srgbClr val="0B0B0B"/>
                </a:solidFill>
                <a:latin typeface="Arial"/>
              </a:rPr>
              <a:t>• Charges dismissed or dropped</a:t>
            </a:r>
          </a:p>
          <a:p>
            <a:pPr>
              <a:spcAft>
                <a:spcPts val="600"/>
              </a:spcAft>
            </a:pPr>
            <a:r>
              <a:rPr sz="1800" b="0" i="0">
                <a:solidFill>
                  <a:srgbClr val="0B0B0B"/>
                </a:solidFill>
                <a:latin typeface="Arial"/>
              </a:rPr>
              <a:t>• Substantial time has passed</a:t>
            </a:r>
          </a:p>
          <a:p>
            <a:pPr>
              <a:spcAft>
                <a:spcPts val="600"/>
              </a:spcAft>
            </a:pPr>
            <a:r>
              <a:rPr sz="1800" b="0" i="0">
                <a:solidFill>
                  <a:srgbClr val="0B0B0B"/>
                </a:solidFill>
                <a:latin typeface="Arial"/>
              </a:rPr>
              <a:t>• Private individual, no public role</a:t>
            </a:r>
          </a:p>
          <a:p>
            <a:pPr>
              <a:spcAft>
                <a:spcPts val="600"/>
              </a:spcAft>
            </a:pPr>
            <a:r>
              <a:rPr sz="1800" b="0" i="0">
                <a:solidFill>
                  <a:srgbClr val="0B0B0B"/>
                </a:solidFill>
                <a:latin typeface="Arial"/>
              </a:rPr>
              <a:t>• Article surfaces prominently in name searches</a:t>
            </a:r>
          </a:p>
          <a:p>
            <a:pPr>
              <a:spcAft>
                <a:spcPts val="600"/>
              </a:spcAft>
            </a:pPr>
            <a:r>
              <a:rPr sz="1800" b="0" i="0">
                <a:solidFill>
                  <a:srgbClr val="0B0B0B"/>
                </a:solidFill>
                <a:latin typeface="Arial"/>
              </a:rPr>
              <a:t>• Continuing reputational harm</a:t>
            </a:r>
          </a:p>
        </p:txBody>
      </p:sp>
      <p:sp>
        <p:nvSpPr>
          <p:cNvPr id="5" name="TextBox 4"/>
          <p:cNvSpPr txBox="1"/>
          <p:nvPr/>
        </p:nvSpPr>
        <p:spPr>
          <a:xfrm>
            <a:off x="6400800" y="1645920"/>
            <a:ext cx="5212080" cy="4389120"/>
          </a:xfrm>
          <a:prstGeom prst="rect">
            <a:avLst/>
          </a:prstGeom>
          <a:noFill/>
        </p:spPr>
        <p:txBody>
          <a:bodyPr wrap="square">
            <a:spAutoFit/>
          </a:bodyPr>
          <a:lstStyle/>
          <a:p>
            <a:pPr>
              <a:spcAft>
                <a:spcPts val="600"/>
              </a:spcAft>
            </a:pPr>
            <a:r>
              <a:rPr sz="1800" b="1" i="0">
                <a:solidFill>
                  <a:srgbClr val="0B0B0B"/>
                </a:solidFill>
                <a:latin typeface="Arial"/>
              </a:rPr>
              <a:t>Relief requested:</a:t>
            </a:r>
          </a:p>
          <a:p>
            <a:pPr>
              <a:spcAft>
                <a:spcPts val="600"/>
              </a:spcAft>
            </a:pPr>
            <a:r>
              <a:rPr sz="1800" b="0" i="0">
                <a:solidFill>
                  <a:srgbClr val="0B0B0B"/>
                </a:solidFill>
                <a:latin typeface="Arial"/>
              </a:rPr>
              <a:t>• deindex</a:t>
            </a:r>
          </a:p>
        </p:txBody>
      </p:sp>
      <p:sp>
        <p:nvSpPr>
          <p:cNvPr id="6" name="TextBox 5"/>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Default profile — edit my_case.yml to describe the actual case before presenting.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METHOD</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How the evidence was gathered</a:t>
            </a:r>
          </a:p>
        </p:txBody>
      </p:sp>
      <p:sp>
        <p:nvSpPr>
          <p:cNvPr id="4" name="TextBox 3"/>
          <p:cNvSpPr txBox="1"/>
          <p:nvPr/>
        </p:nvSpPr>
        <p:spPr>
          <a:xfrm>
            <a:off x="548640" y="1645920"/>
            <a:ext cx="11064240" cy="4480560"/>
          </a:xfrm>
          <a:prstGeom prst="rect">
            <a:avLst/>
          </a:prstGeom>
          <a:noFill/>
        </p:spPr>
        <p:txBody>
          <a:bodyPr wrap="square">
            <a:spAutoFit/>
          </a:bodyPr>
          <a:lstStyle/>
          <a:p>
            <a:pPr>
              <a:spcAft>
                <a:spcPts val="600"/>
              </a:spcAft>
            </a:pPr>
            <a:r>
              <a:rPr sz="1800" b="0" i="0">
                <a:solidFill>
                  <a:srgbClr val="0B0B0B"/>
                </a:solidFill>
                <a:latin typeface="Arial"/>
              </a:rPr>
              <a:t>• Three separate groups, never pooled: student newspapers (IPEDS four-year institutions), professional newsrooms, and journalism standards / legal / ethics organizations.</a:t>
            </a:r>
          </a:p>
          <a:p>
            <a:pPr>
              <a:spcAft>
                <a:spcPts val="600"/>
              </a:spcAft>
            </a:pPr>
            <a:r>
              <a:rPr sz="1800" b="0" i="0">
                <a:solidFill>
                  <a:srgbClr val="0B0B0B"/>
                </a:solidFill>
                <a:latin typeface="Arial"/>
              </a:rPr>
              <a:t>• Each organization's own site was searched and read for written policy; its archive was sampled for what it actually did (editor's notes, name removals, noindex tags on old crime stories).</a:t>
            </a:r>
          </a:p>
          <a:p>
            <a:pPr>
              <a:spcAft>
                <a:spcPts val="600"/>
              </a:spcAft>
            </a:pPr>
            <a:r>
              <a:rPr sz="1800" b="0" i="0">
                <a:solidFill>
                  <a:srgbClr val="0B0B0B"/>
                </a:solidFill>
                <a:latin typeface="Arial"/>
              </a:rPr>
              <a:t>• Supportive and opposing language were searched for with equal effort; opposing evidence is reported in full.</a:t>
            </a:r>
          </a:p>
          <a:p>
            <a:pPr>
              <a:spcAft>
                <a:spcPts val="600"/>
              </a:spcAft>
            </a:pPr>
            <a:r>
              <a:rPr sz="1800" b="0" i="0">
                <a:solidFill>
                  <a:srgbClr val="0B0B0B"/>
                </a:solidFill>
                <a:latin typeface="Arial"/>
              </a:rPr>
              <a:t>• Sites that could not be inspected are 'undetermined', never counted as 'no policy'.</a:t>
            </a:r>
          </a:p>
          <a:p>
            <a:pPr>
              <a:spcAft>
                <a:spcPts val="600"/>
              </a:spcAft>
            </a:pPr>
            <a:r>
              <a:rPr sz="1800" b="0" i="0">
                <a:solidFill>
                  <a:srgbClr val="0B0B0B"/>
                </a:solidFill>
                <a:latin typeface="Arial"/>
              </a:rPr>
              <a:t>• Every excerpt is stored with its URL, fetch time and SHA-256 hash; snapshots are kept unchanged.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WHICH KIND OF RELIEF, BY GROUP</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De-indexing and anonymization vs. unpublishing</a:t>
            </a:r>
          </a:p>
        </p:txBody>
      </p:sp>
      <p:graphicFrame>
        <p:nvGraphicFramePr>
          <p:cNvPr id="4" name="Chart 3"/>
          <p:cNvGraphicFramePr>
            <a:graphicFrameLocks noGrp="1"/>
          </p:cNvGraphicFramePr>
          <p:nvPr/>
        </p:nvGraphicFramePr>
        <p:xfrm>
          <a:off x="548640" y="1554480"/>
          <a:ext cx="76809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8412480" y="1645920"/>
            <a:ext cx="3291840" cy="4389120"/>
          </a:xfrm>
          <a:prstGeom prst="rect">
            <a:avLst/>
          </a:prstGeom>
          <a:noFill/>
        </p:spPr>
        <p:txBody>
          <a:bodyPr wrap="square">
            <a:spAutoFit/>
          </a:bodyPr>
          <a:lstStyle/>
          <a:p>
            <a:pPr>
              <a:spcAft>
                <a:spcPts val="600"/>
              </a:spcAft>
            </a:pPr>
            <a:r>
              <a:rPr sz="1300" b="0" i="0">
                <a:solidFill>
                  <a:srgbClr val="52514E"/>
                </a:solidFill>
                <a:latin typeface="Arial"/>
              </a:rPr>
              <a:t>Student media: 6 researched (preliminary — counts only); 1 allow relief that keeps the archive; 1 reject unpublishing.</a:t>
            </a:r>
          </a:p>
          <a:p>
            <a:pPr>
              <a:spcAft>
                <a:spcPts val="600"/>
              </a:spcAft>
            </a:pPr>
            <a:r>
              <a:rPr sz="1300" b="0" i="0">
                <a:solidFill>
                  <a:srgbClr val="52514E"/>
                </a:solidFill>
                <a:latin typeface="Arial"/>
              </a:rPr>
              <a:t>Professional newsrooms: 6 researched (preliminary — counts only); 4 allow relief that keeps the archive; 0 reject unpublishing.</a:t>
            </a:r>
          </a:p>
          <a:p>
            <a:pPr>
              <a:spcAft>
                <a:spcPts val="600"/>
              </a:spcAft>
            </a:pPr>
            <a:r>
              <a:rPr sz="1300" b="0" i="0">
                <a:solidFill>
                  <a:srgbClr val="52514E"/>
                </a:solidFill>
                <a:latin typeface="Arial"/>
              </a:rPr>
              <a:t>Standards &amp; support orgs: 46 researched (preliminary — counts only); 4 allow relief that keeps the archive; 1 reject unpublishing.</a:t>
            </a:r>
          </a:p>
        </p:txBody>
      </p:sp>
      <p:sp>
        <p:nvSpPr>
          <p:cNvPr id="6" name="TextBox 5"/>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Counts of organizations. Source rows: workbook sheet 'De-index vs Unpublish'.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OVERALL POSITION BY GROUP</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Where each group stands</a:t>
            </a:r>
          </a:p>
        </p:txBody>
      </p:sp>
      <p:graphicFrame>
        <p:nvGraphicFramePr>
          <p:cNvPr id="4" name="Chart 3"/>
          <p:cNvGraphicFramePr>
            <a:graphicFrameLocks noGrp="1"/>
          </p:cNvGraphicFramePr>
          <p:nvPr/>
        </p:nvGraphicFramePr>
        <p:xfrm>
          <a:off x="548640" y="1554480"/>
          <a:ext cx="11064240" cy="4480560"/>
        </p:xfrm>
        <a:graphic>
          <a:graphicData uri="http://schemas.openxmlformats.org/drawingml/2006/chart">
            <c:chart xmlns:c="http://schemas.openxmlformats.org/drawingml/2006/chart" r:id="rId2"/>
          </a:graphicData>
        </a:graphic>
      </p:graphicFrame>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Each organization counted once, in its own group. 'Not addressed' includes organizations whose sites could not be fully inspected.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KNOWN INITIATIVES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Named programs and precedents</a:t>
            </a:r>
          </a:p>
        </p:txBody>
      </p:sp>
      <p:graphicFrame>
        <p:nvGraphicFramePr>
          <p:cNvPr id="4" name="Table 3"/>
          <p:cNvGraphicFramePr>
            <a:graphicFrameLocks noGrp="1"/>
          </p:cNvGraphicFramePr>
          <p:nvPr/>
        </p:nvGraphicFramePr>
        <p:xfrm>
          <a:off x="548640" y="1554480"/>
          <a:ext cx="11064240" cy="4114800"/>
        </p:xfrm>
        <a:graphic>
          <a:graphicData uri="http://schemas.openxmlformats.org/drawingml/2006/table">
            <a:tbl>
              <a:tblPr firstRow="1" bandRow="1">
                <a:tableStyleId>{5C22544A-7EE6-4342-B048-85BDC9FD1C3A}</a:tableStyleId>
              </a:tblPr>
              <a:tblGrid>
                <a:gridCol w="2377440"/>
                <a:gridCol w="3108960"/>
                <a:gridCol w="822960"/>
                <a:gridCol w="4754880"/>
              </a:tblGrid>
              <a:tr h="457200">
                <a:tc>
                  <a:txBody>
                    <a:bodyPr/>
                    <a:lstStyle/>
                    <a:p>
                      <a:r>
                        <a:t>Organization</a:t>
                      </a:r>
                    </a:p>
                  </a:txBody>
                  <a:tcPr/>
                </a:tc>
                <a:tc>
                  <a:txBody>
                    <a:bodyPr/>
                    <a:lstStyle/>
                    <a:p>
                      <a:r>
                        <a:t>Program / document</a:t>
                      </a:r>
                    </a:p>
                  </a:txBody>
                  <a:tcPr/>
                </a:tc>
                <a:tc>
                  <a:txBody>
                    <a:bodyPr/>
                    <a:lstStyle/>
                    <a:p>
                      <a:r>
                        <a:t>Year</a:t>
                      </a:r>
                    </a:p>
                  </a:txBody>
                  <a:tcPr/>
                </a:tc>
                <a:tc>
                  <a:txBody>
                    <a:bodyPr/>
                    <a:lstStyle/>
                    <a:p>
                      <a:r>
                        <a:t>Status</a:t>
                      </a:r>
                    </a:p>
                  </a:txBody>
                  <a:tcPr/>
                </a:tc>
              </a:tr>
              <a:tr h="457200">
                <a:tc>
                  <a:txBody>
                    <a:bodyPr/>
                    <a:lstStyle/>
                    <a:p>
                      <a:r>
                        <a:rPr sz="1300"/>
                        <a:t>Associated Press</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Atlanta Journal-Constitution</a:t>
                      </a:r>
                    </a:p>
                  </a:txBody>
                  <a:tcPr/>
                </a:tc>
                <a:tc>
                  <a:txBody>
                    <a:bodyPr/>
                    <a:lstStyle/>
                    <a:p>
                      <a:r>
                        <a:rPr sz="1300"/>
                        <a:t>Search-suppression review</a:t>
                      </a:r>
                    </a:p>
                  </a:txBody>
                  <a:tcPr/>
                </a:tc>
                <a:tc>
                  <a:txBody>
                    <a:bodyPr/>
                    <a:lstStyle/>
                    <a:p/>
                  </a:txBody>
                  <a:tcPr/>
                </a:tc>
                <a:tc>
                  <a:txBody>
                    <a:bodyPr/>
                    <a:lstStyle/>
                    <a:p>
                      <a:r>
                        <a:rPr sz="1300"/>
                        <a:t>UNVERIFIED — confirm against source before quoting</a:t>
                      </a:r>
                    </a:p>
                  </a:txBody>
                  <a:tcPr/>
                </a:tc>
              </a:tr>
              <a:tr h="457200">
                <a:tc>
                  <a:txBody>
                    <a:bodyPr/>
                    <a:lstStyle/>
                    <a:p>
                      <a:r>
                        <a:rPr sz="1300"/>
                        <a:t>Bangor Daily News</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Boston.com</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Chicago Sun-Times</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cleveland.com</a:t>
                      </a:r>
                    </a:p>
                  </a:txBody>
                  <a:tcPr/>
                </a:tc>
                <a:tc>
                  <a:txBody>
                    <a:bodyPr/>
                    <a:lstStyle/>
                    <a:p>
                      <a:r>
                        <a:rPr sz="1300"/>
                        <a:t>Right-to-be-forgotten review</a:t>
                      </a:r>
                    </a:p>
                  </a:txBody>
                  <a:tcPr/>
                </a:tc>
                <a:tc>
                  <a:txBody>
                    <a:bodyPr/>
                    <a:lstStyle/>
                    <a:p/>
                  </a:txBody>
                  <a:tcPr/>
                </a:tc>
                <a:tc>
                  <a:txBody>
                    <a:bodyPr/>
                    <a:lstStyle/>
                    <a:p>
                      <a:r>
                        <a:rPr sz="1300"/>
                        <a:t>UNVERIFIED — confirm against source before quoting</a:t>
                      </a:r>
                    </a:p>
                  </a:txBody>
                  <a:tcPr/>
                </a:tc>
              </a:tr>
              <a:tr h="457200">
                <a:tc>
                  <a:txBody>
                    <a:bodyPr/>
                    <a:lstStyle/>
                    <a:p>
                      <a:r>
                        <a:rPr sz="1300"/>
                        <a:t>Lexington Herald-Leader</a:t>
                      </a:r>
                    </a:p>
                  </a:txBody>
                  <a:tcPr/>
                </a:tc>
                <a:tc>
                  <a:txBody>
                    <a:bodyPr/>
                    <a:lstStyle/>
                    <a:p>
                      <a:r>
                        <a:rPr sz="1300"/>
                        <a:t>Clean Slate / reviewed changes</a:t>
                      </a:r>
                    </a:p>
                  </a:txBody>
                  <a:tcPr/>
                </a:tc>
                <a:tc>
                  <a:txBody>
                    <a:bodyPr/>
                    <a:lstStyle/>
                    <a:p/>
                  </a:txBody>
                  <a:tcPr/>
                </a:tc>
                <a:tc>
                  <a:txBody>
                    <a:bodyPr/>
                    <a:lstStyle/>
                    <a:p>
                      <a:r>
                        <a:rPr sz="1300"/>
                        <a:t>UNVERIFIED — confirm against source before quoting</a:t>
                      </a:r>
                    </a:p>
                  </a:txBody>
                  <a:tcPr/>
                </a:tc>
              </a:tr>
              <a:tr h="457200">
                <a:tc>
                  <a:txBody>
                    <a:bodyPr/>
                    <a:lstStyle/>
                    <a:p>
                      <a:r>
                        <a:rPr sz="1300"/>
                        <a:t>NBC 4 New York</a:t>
                      </a:r>
                    </a:p>
                  </a:txBody>
                  <a:tcPr/>
                </a:tc>
                <a:tc>
                  <a:txBody>
                    <a:bodyPr/>
                    <a:lstStyle/>
                    <a:p>
                      <a:r>
                        <a:rPr sz="1300"/>
                        <a:t>Shared digital-removal standards</a:t>
                      </a:r>
                    </a:p>
                  </a:txBody>
                  <a:tcPr/>
                </a:tc>
                <a:tc>
                  <a:txBody>
                    <a:bodyPr/>
                    <a:lstStyle/>
                    <a:p/>
                  </a:txBody>
                  <a:tcPr/>
                </a:tc>
                <a:tc>
                  <a:txBody>
                    <a:bodyPr/>
                    <a:lstStyle/>
                    <a:p>
                      <a:r>
                        <a:rPr sz="1300"/>
                        <a:t>UNVERIFIED — confirm against source before quoting</a:t>
                      </a:r>
                    </a:p>
                  </a:txBody>
                  <a:tcPr/>
                </a:tc>
              </a:tr>
            </a:tbl>
          </a:graphicData>
        </a:graphic>
      </p:graphicFrame>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Workbook sheet 'Named Precedents' lists every lead, including those not found.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1 · PRECEDENT_CASE · MATCH TO CASE 58/100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Associated Press — Direct de-indexing policy</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those cases, the AP would also request that Google “deindex” the stories, removing them from its search results.”</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https://www.ap.org/contact-us/minor-crimes/</a:t>
            </a:r>
          </a:p>
          <a:p>
            <a:pPr>
              <a:spcAft>
                <a:spcPts val="600"/>
              </a:spcAft>
            </a:pPr>
            <a:r>
              <a:rPr sz="1200" b="0" i="0">
                <a:solidFill>
                  <a:srgbClr val="52514E"/>
                </a:solidFill>
                <a:latin typeface="Arial"/>
              </a:rPr>
              <a:t>Fetched 2026-10-08 15:41:11 · page SHA-256 50a1d590f771fd3b…</a:t>
            </a:r>
          </a:p>
          <a:p>
            <a:pPr>
              <a:spcAft>
                <a:spcPts val="600"/>
              </a:spcAft>
            </a:pPr>
            <a:r>
              <a:rPr sz="1200" b="0" i="0">
                <a:solidFill>
                  <a:srgbClr val="52514E"/>
                </a:solidFill>
                <a:latin typeface="Arial"/>
              </a:rPr>
              <a:t>Matches: criminal allegation or arrest, charges dismissed or dropped, search engine prominence,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2 · PRECEDENT_CASE · MATCH TO CASE 58/100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WUFT — De-indexing among options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“Alternatives to removal In some cases, WUFT may offer alternatives to removal or search engine deindexing: Updating the article to reflect the current status (e.g., charges dropped, rehabilitation, successful appeal).”</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https://www.wuft.org/editorial-policies</a:t>
            </a:r>
          </a:p>
          <a:p>
            <a:pPr>
              <a:spcAft>
                <a:spcPts val="600"/>
              </a:spcAft>
            </a:pPr>
            <a:r>
              <a:rPr sz="1200" b="0" i="0">
                <a:solidFill>
                  <a:srgbClr val="52514E"/>
                </a:solidFill>
                <a:latin typeface="Arial"/>
              </a:rPr>
              <a:t>Fetched 2026-10-08 15:54:00 · page SHA-256 c1ad4bd49906364b…</a:t>
            </a:r>
          </a:p>
          <a:p>
            <a:pPr>
              <a:spcAft>
                <a:spcPts val="600"/>
              </a:spcAft>
            </a:pPr>
            <a:r>
              <a:rPr sz="1200" b="0" i="0">
                <a:solidFill>
                  <a:srgbClr val="52514E"/>
                </a:solidFill>
                <a:latin typeface="Arial"/>
              </a:rPr>
              <a:t>Matches: criminal allegation or arrest, charges dismissed or dropped, search engine prominence,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3 · PROFESSIONAL NEWSROOMS · MATCH TO CASE 58/100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Associated Press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those cases, the AP would also request that Google “deindex” the stories, removing them from its search results.”</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https://www.ap.org/contact-us/minor-crimes/</a:t>
            </a:r>
          </a:p>
          <a:p>
            <a:pPr>
              <a:spcAft>
                <a:spcPts val="600"/>
              </a:spcAft>
            </a:pPr>
            <a:r>
              <a:rPr sz="1200" b="0" i="0">
                <a:solidFill>
                  <a:srgbClr val="52514E"/>
                </a:solidFill>
                <a:latin typeface="Arial"/>
              </a:rPr>
              <a:t>Fetched 2026-10-08 13:41:34 · page SHA-256 96e0e4e98c5fa698…</a:t>
            </a:r>
          </a:p>
          <a:p>
            <a:pPr>
              <a:spcAft>
                <a:spcPts val="600"/>
              </a:spcAft>
            </a:pPr>
            <a:r>
              <a:rPr sz="1200" b="0" i="0">
                <a:solidFill>
                  <a:srgbClr val="52514E"/>
                </a:solidFill>
                <a:latin typeface="Arial"/>
              </a:rPr>
              <a:t>Matches: criminal allegation or arrest, charges dismissed or dropped, search engine prominence,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4 · PRECEDENT_CASE · MATCH TO CASE 51/100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Center for Media Engagement, University of Texas at Austin — Research on unpublishing ethics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“Some editors, for example, will opt to de-index the content in search engines so they cannot be found on Google but the original content remains on the news site.”</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https://mediaengagement.org/wp-content/uploads/2021/12/116-Unpublishing-the-News-Case-Study.pdf (Internet Archive copy)</a:t>
            </a:r>
          </a:p>
          <a:p>
            <a:pPr>
              <a:spcAft>
                <a:spcPts val="600"/>
              </a:spcAft>
            </a:pPr>
            <a:r>
              <a:rPr sz="1200" b="0" i="0">
                <a:solidFill>
                  <a:srgbClr val="52514E"/>
                </a:solidFill>
                <a:latin typeface="Arial"/>
              </a:rPr>
              <a:t>Fetched 2026-10-08 15:58:04 · page SHA-256 3113232f4f906432…</a:t>
            </a:r>
          </a:p>
          <a:p>
            <a:pPr>
              <a:spcAft>
                <a:spcPts val="600"/>
              </a:spcAft>
            </a:pPr>
            <a:r>
              <a:rPr sz="1200" b="0" i="0">
                <a:solidFill>
                  <a:srgbClr val="52514E"/>
                </a:solidFill>
                <a:latin typeface="Arial"/>
              </a:rPr>
              <a:t>Matches: student or university setting, search engine prominence, preserve article suppress name search,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5 · PRECEDENT_CASE · MATCH TO CASE 47/100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WUFT — De-indexing among options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“If we receive a request to remove or update a crime story we have reported, we need to be able to independently request or find documentation that the case was expunged or charges dropped, and/or evidence that the age and mitigating conditions have created a different environment for the victim and/or accused.”</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https://www.wuft.org/editorial-policies</a:t>
            </a:r>
          </a:p>
          <a:p>
            <a:pPr>
              <a:spcAft>
                <a:spcPts val="600"/>
              </a:spcAft>
            </a:pPr>
            <a:r>
              <a:rPr sz="1200" b="0" i="0">
                <a:solidFill>
                  <a:srgbClr val="52514E"/>
                </a:solidFill>
                <a:latin typeface="Arial"/>
              </a:rPr>
              <a:t>Fetched 2026-10-08 15:54:00 · page SHA-256 c1ad4bd49906364b…</a:t>
            </a:r>
          </a:p>
          <a:p>
            <a:pPr>
              <a:spcAft>
                <a:spcPts val="600"/>
              </a:spcAft>
            </a:pPr>
            <a:r>
              <a:rPr sz="1200" b="0" i="0">
                <a:solidFill>
                  <a:srgbClr val="52514E"/>
                </a:solidFill>
                <a:latin typeface="Arial"/>
              </a:rPr>
              <a:t>Matches: criminal allegation or arrest, charges dismissed or dropped,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6 · PRECEDENT_CASE · MATCH TO CASE 42/100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Chicago Sun-Times — Direct de-indexing policy</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“We’ve set up a newsroom panel to review requests to de-index, or remove from internet search engines, past coverage that meets certain criteria.”</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https://chicago.suntimes.com/right-to-be-forgotten-policy</a:t>
            </a:r>
          </a:p>
          <a:p>
            <a:pPr>
              <a:spcAft>
                <a:spcPts val="600"/>
              </a:spcAft>
            </a:pPr>
            <a:r>
              <a:rPr sz="1200" b="0" i="0">
                <a:solidFill>
                  <a:srgbClr val="52514E"/>
                </a:solidFill>
                <a:latin typeface="Arial"/>
              </a:rPr>
              <a:t>Fetched 2026-10-08 15:41:27 · page SHA-256 95e7cf3abc103167…</a:t>
            </a:r>
          </a:p>
          <a:p>
            <a:pPr>
              <a:spcAft>
                <a:spcPts val="600"/>
              </a:spcAft>
            </a:pPr>
            <a:r>
              <a:rPr sz="1200" b="0" i="0">
                <a:solidFill>
                  <a:srgbClr val="52514E"/>
                </a:solidFill>
                <a:latin typeface="Arial"/>
              </a:rPr>
              <a:t>Matches: criminal allegation or arrest, search engine prominence,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7 · PRECEDENT_CASE · MATCH TO CASE 42/100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OregonLive.com — Clean Slate / reviewed changes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“It can remove a mugshot – a logical step after Oregon changed the law to limit the release of booking photos, with lawmakers recognizing their severe harm .”</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https://www.theguardian.com/us-news/2025/jan/04/newspaper-crime-stories</a:t>
            </a:r>
          </a:p>
          <a:p>
            <a:pPr>
              <a:spcAft>
                <a:spcPts val="600"/>
              </a:spcAft>
            </a:pPr>
            <a:r>
              <a:rPr sz="1200" b="0" i="0">
                <a:solidFill>
                  <a:srgbClr val="52514E"/>
                </a:solidFill>
                <a:latin typeface="Arial"/>
              </a:rPr>
              <a:t>Fetched 2026-10-08 15:46:37 · page SHA-256 7fee7e2d0f9db777…</a:t>
            </a:r>
          </a:p>
          <a:p>
            <a:pPr>
              <a:spcAft>
                <a:spcPts val="600"/>
              </a:spcAft>
            </a:pPr>
            <a:r>
              <a:rPr sz="1200" b="0" i="0">
                <a:solidFill>
                  <a:srgbClr val="52514E"/>
                </a:solidFill>
                <a:latin typeface="Arial"/>
              </a:rPr>
              <a:t>Matches: criminal allegation or arrest, search engine prominence,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8 · PRECEDENT_CASE · MATCH TO CASE 42/100</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OregonLive.com — Clean Slate / reviewed changes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“The paper can also remove a subject’s name, delete the story entirely, or ask Google to deindex the article, meaning it would still exist on OregonLive.com, but wouldn’t easily surface in a web search.”</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https://www.theguardian.com/us-news/2025/jan/04/newspaper-crime-stories</a:t>
            </a:r>
          </a:p>
          <a:p>
            <a:pPr>
              <a:spcAft>
                <a:spcPts val="600"/>
              </a:spcAft>
            </a:pPr>
            <a:r>
              <a:rPr sz="1200" b="0" i="0">
                <a:solidFill>
                  <a:srgbClr val="52514E"/>
                </a:solidFill>
                <a:latin typeface="Arial"/>
              </a:rPr>
              <a:t>Fetched 2026-10-08 15:46:37 · page SHA-256 7fee7e2d0f9db777…</a:t>
            </a:r>
          </a:p>
          <a:p>
            <a:pPr>
              <a:spcAft>
                <a:spcPts val="600"/>
              </a:spcAft>
            </a:pPr>
            <a:r>
              <a:rPr sz="1200" b="0" i="0">
                <a:solidFill>
                  <a:srgbClr val="52514E"/>
                </a:solidFill>
                <a:latin typeface="Arial"/>
              </a:rPr>
              <a:t>Matches: criminal allegation or arrest, search engine prominence, deindexing</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EXPERT VOICES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What respected practitioners say</a:t>
            </a:r>
          </a:p>
        </p:txBody>
      </p:sp>
      <p:sp>
        <p:nvSpPr>
          <p:cNvPr id="4" name="Rectangle 3"/>
          <p:cNvSpPr/>
          <p:nvPr/>
        </p:nvSpPr>
        <p:spPr>
          <a:xfrm>
            <a:off x="548640" y="155448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“Last December, Quinn’s newsroom received a $200,000 grant from Google to develop technology that could scrape through its archive and identify mug shots or minor crime reports that should be preemptively de-indexed or removed.”</a:t>
            </a:r>
          </a:p>
          <a:p>
            <a:pPr>
              <a:spcAft>
                <a:spcPts val="600"/>
              </a:spcAft>
            </a:pPr>
            <a:r>
              <a:rPr sz="1200" b="0" i="0">
                <a:solidFill>
                  <a:srgbClr val="0B0B0B"/>
                </a:solidFill>
                <a:latin typeface="Arial"/>
              </a:rPr>
              <a:t>— Linda Kinstler</a:t>
            </a:r>
          </a:p>
          <a:p>
            <a:pPr>
              <a:spcAft>
                <a:spcPts val="600"/>
              </a:spcAft>
            </a:pPr>
            <a:r>
              <a:rPr sz="1200" b="0" i="0">
                <a:solidFill>
                  <a:srgbClr val="0B0B0B"/>
                </a:solidFill>
                <a:latin typeface="Arial"/>
              </a:rPr>
              <a:t>https://www.cjr.org/special_report/right-to-be-forgotten.php · UNVERIFIED</a:t>
            </a:r>
          </a:p>
        </p:txBody>
      </p:sp>
      <p:sp>
        <p:nvSpPr>
          <p:cNvPr id="6" name="Rectangle 5"/>
          <p:cNvSpPr/>
          <p:nvPr/>
        </p:nvSpPr>
        <p:spPr>
          <a:xfrm>
            <a:off x="6172200" y="155448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“As we spoke, he pulled up a spreadsheet and walked me through a few examples: a family member asking to remove a paid obituary (approved); an alleged road rage incident in which an arrest occurred and charges were dropped (approved after a reporter confirmed t”</a:t>
            </a:r>
          </a:p>
          <a:p>
            <a:pPr>
              <a:spcAft>
                <a:spcPts val="600"/>
              </a:spcAft>
            </a:pPr>
            <a:r>
              <a:rPr sz="1200" b="0" i="0">
                <a:solidFill>
                  <a:srgbClr val="0B0B0B"/>
                </a:solidFill>
                <a:latin typeface="Arial"/>
              </a:rPr>
              <a:t>— Linda Kinstler</a:t>
            </a:r>
          </a:p>
          <a:p>
            <a:pPr>
              <a:spcAft>
                <a:spcPts val="600"/>
              </a:spcAft>
            </a:pPr>
            <a:r>
              <a:rPr sz="1200" b="0" i="0">
                <a:solidFill>
                  <a:srgbClr val="0B0B0B"/>
                </a:solidFill>
                <a:latin typeface="Arial"/>
              </a:rPr>
              <a:t>https://www.cjr.org/special_report/right-to-be-forgotten.php · UNVERIFIED</a:t>
            </a:r>
          </a:p>
        </p:txBody>
      </p:sp>
      <p:sp>
        <p:nvSpPr>
          <p:cNvPr id="8" name="Rectangle 7"/>
          <p:cNvSpPr/>
          <p:nvPr/>
        </p:nvSpPr>
        <p:spPr>
          <a:xfrm>
            <a:off x="548640" y="388620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“The main remedy we will offer is deindexing.”</a:t>
            </a:r>
          </a:p>
          <a:p>
            <a:pPr>
              <a:spcAft>
                <a:spcPts val="600"/>
              </a:spcAft>
            </a:pPr>
            <a:r>
              <a:rPr sz="1200" b="0" i="0">
                <a:solidFill>
                  <a:srgbClr val="0B0B0B"/>
                </a:solidFill>
                <a:latin typeface="Arial"/>
              </a:rPr>
              <a:t>— No Author</a:t>
            </a:r>
          </a:p>
          <a:p>
            <a:pPr>
              <a:spcAft>
                <a:spcPts val="600"/>
              </a:spcAft>
            </a:pPr>
            <a:r>
              <a:rPr sz="1200" b="0" i="0">
                <a:solidFill>
                  <a:srgbClr val="0B0B0B"/>
                </a:solidFill>
                <a:latin typeface="Arial"/>
              </a:rPr>
              <a:t>https://www.inquirer.com/about/inq2/up-for-review-inquirer-policy-20230201.html · UNVERIFIED</a:t>
            </a:r>
          </a:p>
        </p:txBody>
      </p:sp>
      <p:sp>
        <p:nvSpPr>
          <p:cNvPr id="10" name="Rectangle 9"/>
          <p:cNvSpPr/>
          <p:nvPr/>
        </p:nvSpPr>
        <p:spPr>
          <a:xfrm>
            <a:off x="6172200" y="388620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“Digital Content Removal Policy We will consider removing content from our digital platforms on a case-by-case basis.”</a:t>
            </a:r>
          </a:p>
          <a:p>
            <a:pPr>
              <a:spcAft>
                <a:spcPts val="600"/>
              </a:spcAft>
            </a:pPr>
            <a:r>
              <a:rPr sz="1200" b="0" i="0">
                <a:solidFill>
                  <a:srgbClr val="0B0B0B"/>
                </a:solidFill>
                <a:latin typeface="Arial"/>
              </a:rPr>
              <a:t>— Published May 9, 2023 • Updated on March 25, 2025 at 5:10 pm</a:t>
            </a:r>
          </a:p>
          <a:p>
            <a:pPr>
              <a:spcAft>
                <a:spcPts val="600"/>
              </a:spcAft>
            </a:pPr>
            <a:r>
              <a:rPr sz="1200" b="0" i="0">
                <a:solidFill>
                  <a:srgbClr val="0B0B0B"/>
                </a:solidFill>
                <a:latin typeface="Arial"/>
              </a:rPr>
              <a:t>https://www.nbcnewyork.com/news/local/nbc-4-new-york-news-standards-and-publishing-princip · UNVERIFIED</a:t>
            </a:r>
          </a:p>
        </p:txBody>
      </p:sp>
      <p:sp>
        <p:nvSpPr>
          <p:cNvPr id="12" name="TextBox 11"/>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Roles as commonly reported; attribution extracted automatically. Full list: workbook sheet 'Expert Voices'.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EXPERT VOICES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Practitioners urging caution</a:t>
            </a:r>
          </a:p>
        </p:txBody>
      </p:sp>
      <p:sp>
        <p:nvSpPr>
          <p:cNvPr id="4" name="Rectangle 3"/>
          <p:cNvSpPr/>
          <p:nvPr/>
        </p:nvSpPr>
        <p:spPr>
          <a:xfrm>
            <a:off x="548640" y="155448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“News leaders from The Boston Globe, Chicago Tribune, Chattanooga Times Free Press and Cleveland.com will share their newsrooms’ editorial policies and the philosophies driving them — including managing requests to remove, de-index or alter “the first draft of ”</a:t>
            </a:r>
          </a:p>
          <a:p>
            <a:pPr>
              <a:spcAft>
                <a:spcPts val="600"/>
              </a:spcAft>
            </a:pPr>
            <a:r>
              <a:rPr sz="1200" b="0" i="0">
                <a:solidFill>
                  <a:srgbClr val="0B0B0B"/>
                </a:solidFill>
                <a:latin typeface="Arial"/>
              </a:rPr>
              <a:t>— RJI Online RJI Fellows Class of 2020–2021</a:t>
            </a:r>
          </a:p>
          <a:p>
            <a:pPr>
              <a:spcAft>
                <a:spcPts val="600"/>
              </a:spcAft>
            </a:pPr>
            <a:r>
              <a:rPr sz="1200" b="0" i="0">
                <a:solidFill>
                  <a:srgbClr val="0B0B0B"/>
                </a:solidFill>
                <a:latin typeface="Arial"/>
              </a:rPr>
              <a:t>https://rjionline.org/events/crime-mugshots-and-takedown-requests-editors-share-newsroom-a · UNVERIFIED</a:t>
            </a:r>
          </a:p>
        </p:txBody>
      </p:sp>
      <p:sp>
        <p:nvSpPr>
          <p:cNvPr id="6" name="Rectangle 5"/>
          <p:cNvSpPr/>
          <p:nvPr/>
        </p:nvSpPr>
        <p:spPr>
          <a:xfrm>
            <a:off x="6172200" y="155448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“It runs counter to our core mission of informing the public and creating the first draft of history.”</a:t>
            </a:r>
          </a:p>
          <a:p>
            <a:pPr>
              <a:spcAft>
                <a:spcPts val="600"/>
              </a:spcAft>
            </a:pPr>
            <a:r>
              <a:rPr sz="1200" b="0" i="0">
                <a:solidFill>
                  <a:srgbClr val="0B0B0B"/>
                </a:solidFill>
                <a:latin typeface="Arial"/>
              </a:rPr>
              <a:t>— Dan MacLeod</a:t>
            </a:r>
          </a:p>
          <a:p>
            <a:pPr>
              <a:spcAft>
                <a:spcPts val="600"/>
              </a:spcAft>
            </a:pPr>
            <a:r>
              <a:rPr sz="1200" b="0" i="0">
                <a:solidFill>
                  <a:srgbClr val="0B0B0B"/>
                </a:solidFill>
                <a:latin typeface="Arial"/>
              </a:rPr>
              <a:t>https://www.bangordailynews.com/2021/01/25/news/were-changing-our-policy-on-old-crime-stor · UNVERIFIED</a:t>
            </a:r>
          </a:p>
        </p:txBody>
      </p:sp>
      <p:sp>
        <p:nvSpPr>
          <p:cNvPr id="8" name="Rectangle 7"/>
          <p:cNvSpPr/>
          <p:nvPr/>
        </p:nvSpPr>
        <p:spPr>
          <a:xfrm>
            <a:off x="548640" y="388620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“Yamin said editors at The Michigan Daily were typically “sticklers” about leaving published material untouched and refusing anonymity to students on either side of the debate over the war in Gaza, in order to have a permanent record of what sources or writers ”</a:t>
            </a:r>
          </a:p>
          <a:p>
            <a:pPr>
              <a:spcAft>
                <a:spcPts val="600"/>
              </a:spcAft>
            </a:pPr>
            <a:r>
              <a:rPr sz="1200" b="0" i="0">
                <a:solidFill>
                  <a:srgbClr val="0B0B0B"/>
                </a:solidFill>
                <a:latin typeface="Arial"/>
              </a:rPr>
              <a:t>— megan_cattel@harvard.edu</a:t>
            </a:r>
          </a:p>
          <a:p>
            <a:pPr>
              <a:spcAft>
                <a:spcPts val="600"/>
              </a:spcAft>
            </a:pPr>
            <a:r>
              <a:rPr sz="1200" b="0" i="0">
                <a:solidFill>
                  <a:srgbClr val="0B0B0B"/>
                </a:solidFill>
                <a:latin typeface="Arial"/>
              </a:rPr>
              <a:t>https://niemanreports.org/campus-newspapers-student-journalists-trump-editorial-policies-f · UNVERIFIED</a:t>
            </a:r>
          </a:p>
        </p:txBody>
      </p:sp>
      <p:sp>
        <p:nvSpPr>
          <p:cNvPr id="10" name="Rectangle 9"/>
          <p:cNvSpPr/>
          <p:nvPr/>
        </p:nvSpPr>
        <p:spPr>
          <a:xfrm>
            <a:off x="6172200" y="388620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“Rather than writing a blanket policy (“we’ll never change old crime stories” or “we’ll anonymize a story anytime a subject asks”), create an open-ended framework and come up with a list of questions to discuss for each case.”</a:t>
            </a:r>
          </a:p>
          <a:p>
            <a:pPr>
              <a:spcAft>
                <a:spcPts val="600"/>
              </a:spcAft>
            </a:pPr>
            <a:r>
              <a:rPr sz="1200" b="0" i="0">
                <a:solidFill>
                  <a:srgbClr val="0B0B0B"/>
                </a:solidFill>
                <a:latin typeface="Arial"/>
              </a:rPr>
              <a:t>— Taylor Blatchford</a:t>
            </a:r>
          </a:p>
          <a:p>
            <a:pPr>
              <a:spcAft>
                <a:spcPts val="600"/>
              </a:spcAft>
            </a:pPr>
            <a:r>
              <a:rPr sz="1200" b="0" i="0">
                <a:solidFill>
                  <a:srgbClr val="0B0B0B"/>
                </a:solidFill>
                <a:latin typeface="Arial"/>
              </a:rPr>
              <a:t>https://www.poynter.org/newsletters/2021/how-student-newsrooms-can-set-a-framework-for-req · UNVERIFIED</a:t>
            </a:r>
          </a:p>
        </p:txBody>
      </p:sp>
      <p:sp>
        <p:nvSpPr>
          <p:cNvPr id="12" name="TextBox 11"/>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Roles as commonly reported; attribution extracted automatically. Full list: workbook sheet 'Expert Voices'.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OPPOSING EVIDENCE</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The main objection: the archive is the historical record</a:t>
            </a:r>
          </a:p>
        </p:txBody>
      </p:sp>
      <p:sp>
        <p:nvSpPr>
          <p:cNvPr id="4" name="TextBox 3"/>
          <p:cNvSpPr txBox="1"/>
          <p:nvPr/>
        </p:nvSpPr>
        <p:spPr>
          <a:xfrm>
            <a:off x="548640" y="1645920"/>
            <a:ext cx="11064240" cy="3108960"/>
          </a:xfrm>
          <a:prstGeom prst="rect">
            <a:avLst/>
          </a:prstGeom>
          <a:noFill/>
        </p:spPr>
        <p:txBody>
          <a:bodyPr wrap="square">
            <a:spAutoFit/>
          </a:bodyPr>
          <a:lstStyle/>
          <a:p>
            <a:pPr>
              <a:spcAft>
                <a:spcPts val="600"/>
              </a:spcAft>
            </a:pPr>
            <a:r>
              <a:rPr sz="1600" b="0" i="0">
                <a:solidFill>
                  <a:srgbClr val="0B0B0B"/>
                </a:solidFill>
                <a:latin typeface="Arial"/>
              </a:rPr>
              <a:t>“Bynum said when the article was taken down, it was no longer relevant but being used against a victim of a crime, making the decision seem clearer.” — The Daily Illini</a:t>
            </a:r>
          </a:p>
          <a:p>
            <a:pPr>
              <a:spcAft>
                <a:spcPts val="600"/>
              </a:spcAft>
            </a:pPr>
            <a:r>
              <a:rPr sz="1600" b="0" i="0">
                <a:solidFill>
                  <a:srgbClr val="0B0B0B"/>
                </a:solidFill>
                <a:latin typeface="Arial"/>
              </a:rPr>
              <a:t>“Bynum said when the article was taken down, it was no longer relevant but being used against a victim of a crime, making the decision seem clearer.” — The Nevada Sagebrush</a:t>
            </a:r>
          </a:p>
          <a:p>
            <a:pPr>
              <a:spcAft>
                <a:spcPts val="600"/>
              </a:spcAft>
            </a:pPr>
            <a:r>
              <a:rPr sz="1600" b="0" i="0">
                <a:solidFill>
                  <a:srgbClr val="0B0B0B"/>
                </a:solidFill>
                <a:latin typeface="Arial"/>
              </a:rPr>
              <a:t>“Bynum said when the article was taken down, it was no longer relevant but being used against a victim of a crime, making the decision seem clearer.” — Niles West News</a:t>
            </a:r>
          </a:p>
        </p:txBody>
      </p:sp>
      <p:sp>
        <p:nvSpPr>
          <p:cNvPr id="5" name="TextBox 4"/>
          <p:cNvSpPr txBox="1"/>
          <p:nvPr/>
        </p:nvSpPr>
        <p:spPr>
          <a:xfrm>
            <a:off x="548640" y="4846320"/>
            <a:ext cx="11064240" cy="1280160"/>
          </a:xfrm>
          <a:prstGeom prst="rect">
            <a:avLst/>
          </a:prstGeom>
          <a:noFill/>
        </p:spPr>
        <p:txBody>
          <a:bodyPr wrap="square">
            <a:spAutoFit/>
          </a:bodyPr>
          <a:lstStyle/>
          <a:p>
            <a:pPr>
              <a:spcAft>
                <a:spcPts val="600"/>
              </a:spcAft>
            </a:pPr>
            <a:r>
              <a:rPr sz="1600" b="0" i="0">
                <a:solidFill>
                  <a:srgbClr val="52514E"/>
                </a:solidFill>
                <a:latin typeface="Arial"/>
              </a:rPr>
              <a:t>In this dataset, 9 organization(s) allow or practice de-indexing or anonymization while keeping the article published; 2 organization(s) explicitly reject unpublishing.</a:t>
            </a:r>
          </a:p>
          <a:p>
            <a:pPr>
              <a:spcAft>
                <a:spcPts val="600"/>
              </a:spcAft>
            </a:pPr>
            <a:r>
              <a:rPr sz="1600" b="0" i="0">
                <a:solidFill>
                  <a:srgbClr val="52514E"/>
                </a:solidFill>
                <a:latin typeface="Arial"/>
              </a:rPr>
              <a:t>De-indexing and anonymization leave the published record in place.</a:t>
            </a:r>
          </a:p>
        </p:txBody>
      </p:sp>
      <p:sp>
        <p:nvSpPr>
          <p:cNvPr id="6" name="TextBox 5"/>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All 336 opposing excerpts: workbook sheet 'Opposing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MEASURED, NOT ASSUMED</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How accurate is the automated classification?</a:t>
            </a:r>
          </a:p>
        </p:txBody>
      </p:sp>
      <p:sp>
        <p:nvSpPr>
          <p:cNvPr id="4" name="TextBox 3"/>
          <p:cNvSpPr txBox="1"/>
          <p:nvPr/>
        </p:nvSpPr>
        <p:spPr>
          <a:xfrm>
            <a:off x="548640" y="1737360"/>
            <a:ext cx="11064240" cy="1828800"/>
          </a:xfrm>
          <a:prstGeom prst="rect">
            <a:avLst/>
          </a:prstGeom>
          <a:noFill/>
        </p:spPr>
        <p:txBody>
          <a:bodyPr wrap="square">
            <a:spAutoFit/>
          </a:bodyPr>
          <a:lstStyle/>
          <a:p>
            <a:pPr>
              <a:spcAft>
                <a:spcPts val="600"/>
              </a:spcAft>
            </a:pPr>
            <a:r>
              <a:rPr sz="2000" b="0" i="0">
                <a:solidFill>
                  <a:srgbClr val="52514E"/>
                </a:solidFill>
                <a:latin typeface="Arial"/>
              </a:rPr>
              <a:t>Not yet measured. Run `nsmpa audit sample`, label the sample, and rebuild the packet.</a:t>
            </a:r>
          </a:p>
        </p:txBody>
      </p:sp>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Workbook sheet 'Accuracy'.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READ BEFORE RELYING ON IT</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Limits of this evidence</a:t>
            </a:r>
          </a:p>
        </p:txBody>
      </p:sp>
      <p:sp>
        <p:nvSpPr>
          <p:cNvPr id="4" name="TextBox 3"/>
          <p:cNvSpPr txBox="1"/>
          <p:nvPr/>
        </p:nvSpPr>
        <p:spPr>
          <a:xfrm>
            <a:off x="548640" y="1645920"/>
            <a:ext cx="11064240" cy="4480560"/>
          </a:xfrm>
          <a:prstGeom prst="rect">
            <a:avLst/>
          </a:prstGeom>
          <a:noFill/>
        </p:spPr>
        <p:txBody>
          <a:bodyPr wrap="square">
            <a:spAutoFit/>
          </a:bodyPr>
          <a:lstStyle/>
          <a:p>
            <a:pPr>
              <a:spcAft>
                <a:spcPts val="600"/>
              </a:spcAft>
            </a:pPr>
            <a:r>
              <a:rPr sz="1600" b="0" i="0">
                <a:solidFill>
                  <a:srgbClr val="0B0B0B"/>
                </a:solidFill>
                <a:latin typeface="Arial"/>
              </a:rPr>
              <a:t>• Automated extraction; every quote used publicly should be confirmed against the live page or snapshot.</a:t>
            </a:r>
          </a:p>
          <a:p>
            <a:pPr>
              <a:spcAft>
                <a:spcPts val="600"/>
              </a:spcAft>
            </a:pPr>
            <a:r>
              <a:rPr sz="1600" b="0" i="0">
                <a:solidFill>
                  <a:srgbClr val="0B0B0B"/>
                </a:solidFill>
                <a:latin typeface="Arial"/>
              </a:rPr>
              <a:t>• Professional newsroom group is a sourced panel, not a census of U.S. journalism.</a:t>
            </a:r>
          </a:p>
          <a:p>
            <a:pPr>
              <a:spcAft>
                <a:spcPts val="600"/>
              </a:spcAft>
            </a:pPr>
            <a:r>
              <a:rPr sz="1600" b="0" i="0">
                <a:solidFill>
                  <a:srgbClr val="0B0B0B"/>
                </a:solidFill>
                <a:latin typeface="Arial"/>
              </a:rPr>
              <a:t>• Absence of a written policy is not evidence of a practice either way.</a:t>
            </a:r>
          </a:p>
          <a:p>
            <a:pPr>
              <a:spcAft>
                <a:spcPts val="600"/>
              </a:spcAft>
            </a:pPr>
            <a:r>
              <a:rPr sz="1600" b="0" i="0">
                <a:solidFill>
                  <a:srgbClr val="0B0B0B"/>
                </a:solidFill>
                <a:latin typeface="Arial"/>
              </a:rPr>
              <a:t>• Absence from Google is never treated as de-indexing; only noindex directives on the page itself are counted.</a:t>
            </a:r>
          </a:p>
          <a:p>
            <a:pPr>
              <a:spcAft>
                <a:spcPts val="600"/>
              </a:spcAft>
            </a:pPr>
            <a:r>
              <a:rPr sz="1600" b="0" i="0">
                <a:solidFill>
                  <a:srgbClr val="0B0B0B"/>
                </a:solidFill>
                <a:latin typeface="Arial"/>
              </a:rPr>
              <a:t>• Student media: preliminary — publication discovery coverage; minimum researched entities; research coverage of universe</a:t>
            </a:r>
          </a:p>
          <a:p>
            <a:pPr>
              <a:spcAft>
                <a:spcPts val="600"/>
              </a:spcAft>
            </a:pPr>
            <a:r>
              <a:rPr sz="1600" b="0" i="0">
                <a:solidFill>
                  <a:srgbClr val="0B0B0B"/>
                </a:solidFill>
                <a:latin typeface="Arial"/>
              </a:rPr>
              <a:t>• Professional newsrooms: preliminary — minimum researched entities; research coverage of universe; human review of findings</a:t>
            </a:r>
          </a:p>
          <a:p>
            <a:pPr>
              <a:spcAft>
                <a:spcPts val="600"/>
              </a:spcAft>
            </a:pPr>
            <a:r>
              <a:rPr sz="1600" b="0" i="0">
                <a:solidFill>
                  <a:srgbClr val="0B0B0B"/>
                </a:solidFill>
                <a:latin typeface="Arial"/>
              </a:rPr>
              <a:t>• Broadcast newsrooms: preliminary — minimum researched entities; research coverage of universe; undetermined rate</a:t>
            </a:r>
          </a:p>
          <a:p>
            <a:pPr>
              <a:spcAft>
                <a:spcPts val="600"/>
              </a:spcAft>
            </a:pPr>
            <a:r>
              <a:rPr sz="1600" b="0" i="0">
                <a:solidFill>
                  <a:srgbClr val="0B0B0B"/>
                </a:solidFill>
                <a:latin typeface="Arial"/>
              </a:rPr>
              <a:t>• Standards &amp; support orgs: preliminary — human review of findings; source verification of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