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Policy: de-index/anonymize</c:v>
                </c:pt>
              </c:strCache>
            </c:strRef>
          </c:tx>
          <c:spPr>
            <a:solidFill>
              <a:srgbClr val="2A78D6"/>
            </a:solidFill>
          </c:spPr>
          <c:dLbls>
            <c:numFmt formatCode="0;;;" sourceLinked="0"/>
            <c:txPr>
              <a:bodyPr/>
              <a:lstStyle/>
              <a:p>
                <a:pPr>
                  <a:defRPr sz="1100">
                    <a:solidFill>
                      <a:srgbClr val="52514E"/>
                    </a:solidFill>
                  </a:defRPr>
                </a:pPr>
              </a:p>
            </c:txPr>
            <c:dLblPos val="outEnd"/>
            <c:showLegendKey val="0"/>
            <c:showVal val="1"/>
            <c:showCatName val="0"/>
            <c:showSerName val="0"/>
            <c:showPercent val="0"/>
            <c:showBubbleSize val="0"/>
            <c:showLeaderLines val="1"/>
          </c:dLbls>
          <c:cat>
            <c:strRef>
              <c:f>Sheet1!$A$2:$A$4</c:f>
              <c:strCache>
                <c:ptCount val="3"/>
                <c:pt idx="0">
                  <c:v>Student media</c:v>
                </c:pt>
                <c:pt idx="1">
                  <c:v>Professional newsrooms</c:v>
                </c:pt>
                <c:pt idx="2">
                  <c:v>Standards &amp; support orgs</c:v>
                </c:pt>
              </c:strCache>
            </c:strRef>
          </c:cat>
          <c:val>
            <c:numRef>
              <c:f>Sheet1!$B$2:$B$4</c:f>
              <c:numCache>
                <c:formatCode>General</c:formatCode>
                <c:ptCount val="3"/>
                <c:pt idx="0">
                  <c:v>8</c:v>
                </c:pt>
                <c:pt idx="1">
                  <c:v>28</c:v>
                </c:pt>
                <c:pt idx="2">
                  <c:v>3</c:v>
                </c:pt>
              </c:numCache>
            </c:numRef>
          </c:val>
        </c:ser>
        <c:ser>
          <c:idx val="1"/>
          <c:order val="1"/>
          <c:tx>
            <c:strRef>
              <c:f>Sheet1!$C$1</c:f>
              <c:strCache>
                <c:ptCount val="1"/>
                <c:pt idx="0">
                  <c:v>Practice: de-index/anonymize</c:v>
                </c:pt>
              </c:strCache>
            </c:strRef>
          </c:tx>
          <c:spPr>
            <a:solidFill>
              <a:srgbClr val="EB6834"/>
            </a:solidFill>
          </c:spPr>
          <c:dLbls>
            <c:numFmt formatCode="0;;;" sourceLinked="0"/>
            <c:txPr>
              <a:bodyPr/>
              <a:lstStyle/>
              <a:p>
                <a:pPr>
                  <a:defRPr sz="1100">
                    <a:solidFill>
                      <a:srgbClr val="52514E"/>
                    </a:solidFill>
                  </a:defRPr>
                </a:pPr>
              </a:p>
            </c:txPr>
            <c:dLblPos val="outEnd"/>
            <c:showLegendKey val="0"/>
            <c:showVal val="1"/>
            <c:showCatName val="0"/>
            <c:showSerName val="0"/>
            <c:showPercent val="0"/>
            <c:showBubbleSize val="0"/>
            <c:showLeaderLines val="1"/>
          </c:dLbls>
          <c:cat>
            <c:strRef>
              <c:f>Sheet1!$A$2:$A$4</c:f>
              <c:strCache>
                <c:ptCount val="3"/>
                <c:pt idx="0">
                  <c:v>Student media</c:v>
                </c:pt>
                <c:pt idx="1">
                  <c:v>Professional newsrooms</c:v>
                </c:pt>
                <c:pt idx="2">
                  <c:v>Standards &amp; support orgs</c:v>
                </c:pt>
              </c:strCache>
            </c:strRef>
          </c:cat>
          <c:val>
            <c:numRef>
              <c:f>Sheet1!$C$2:$C$4</c:f>
              <c:numCache>
                <c:formatCode>General</c:formatCode>
                <c:ptCount val="3"/>
                <c:pt idx="0">
                  <c:v>43</c:v>
                </c:pt>
                <c:pt idx="1">
                  <c:v>44</c:v>
                </c:pt>
                <c:pt idx="2">
                  <c:v>0</c:v>
                </c:pt>
              </c:numCache>
            </c:numRef>
          </c:val>
        </c:ser>
        <c:ser>
          <c:idx val="2"/>
          <c:order val="2"/>
          <c:tx>
            <c:strRef>
              <c:f>Sheet1!$D$1</c:f>
              <c:strCache>
                <c:ptCount val="1"/>
                <c:pt idx="0">
                  <c:v>Policy: unpublish</c:v>
                </c:pt>
              </c:strCache>
            </c:strRef>
          </c:tx>
          <c:spPr>
            <a:solidFill>
              <a:srgbClr val="1BAF7A"/>
            </a:solidFill>
          </c:spPr>
          <c:dLbls>
            <c:numFmt formatCode="0;;;" sourceLinked="0"/>
            <c:txPr>
              <a:bodyPr/>
              <a:lstStyle/>
              <a:p>
                <a:pPr>
                  <a:defRPr sz="1100">
                    <a:solidFill>
                      <a:srgbClr val="52514E"/>
                    </a:solidFill>
                  </a:defRPr>
                </a:pPr>
              </a:p>
            </c:txPr>
            <c:dLblPos val="outEnd"/>
            <c:showLegendKey val="0"/>
            <c:showVal val="1"/>
            <c:showCatName val="0"/>
            <c:showSerName val="0"/>
            <c:showPercent val="0"/>
            <c:showBubbleSize val="0"/>
            <c:showLeaderLines val="1"/>
          </c:dLbls>
          <c:cat>
            <c:strRef>
              <c:f>Sheet1!$A$2:$A$4</c:f>
              <c:strCache>
                <c:ptCount val="3"/>
                <c:pt idx="0">
                  <c:v>Student media</c:v>
                </c:pt>
                <c:pt idx="1">
                  <c:v>Professional newsrooms</c:v>
                </c:pt>
                <c:pt idx="2">
                  <c:v>Standards &amp; support orgs</c:v>
                </c:pt>
              </c:strCache>
            </c:strRef>
          </c:cat>
          <c:val>
            <c:numRef>
              <c:f>Sheet1!$D$2:$D$4</c:f>
              <c:numCache>
                <c:formatCode>General</c:formatCode>
                <c:ptCount val="3"/>
                <c:pt idx="0">
                  <c:v>17</c:v>
                </c:pt>
                <c:pt idx="1">
                  <c:v>12</c:v>
                </c:pt>
                <c:pt idx="2">
                  <c:v>0</c:v>
                </c:pt>
              </c:numCache>
            </c:numRef>
          </c:val>
        </c:ser>
        <c:gapWidth val="60"/>
        <c:overlap val="-8"/>
        <c:axId val="-2068027336"/>
        <c:axId val="-2113994440"/>
      </c:barChart>
      <c:catAx>
        <c:axId val="-2068027336"/>
        <c:scaling>
          <c:orientation val="maxMin"/>
        </c:scaling>
        <c:delete val="0"/>
        <c:axPos val="l"/>
        <c:majorTickMark val="out"/>
        <c:minorTickMark val="none"/>
        <c:tickLblPos val="nextTo"/>
        <c:spPr>
          <a:ln>
            <a:solidFill>
              <a:srgbClr val="C9C8C3"/>
            </a:solidFill>
          </a:ln>
        </c:spPr>
        <c:txPr>
          <a:bodyPr/>
          <a:lstStyle/>
          <a:p>
            <a:pPr>
              <a:defRPr sz="1300"/>
            </a:pPr>
          </a:p>
        </c:txPr>
        <c:crossAx val="-2113994440"/>
        <c:crosses val="autoZero"/>
        <c:auto val="1"/>
        <c:lblAlgn val="ctr"/>
        <c:lblOffset val="100"/>
        <c:noMultiLvlLbl val="0"/>
      </c:catAx>
      <c:valAx>
        <c:axId val="-2113994440"/>
        <c:scaling>
          <c:min val="0.0"/>
        </c:scaling>
        <c:delete val="0"/>
        <c:axPos val="b"/>
        <c:majorGridlines>
          <c:spPr>
            <a:ln>
              <a:solidFill>
                <a:srgbClr val="ECEBE7"/>
              </a:solidFill>
            </a:ln>
          </c:spPr>
        </c:majorGridlines>
        <c:majorTickMark val="out"/>
        <c:minorTickMark val="none"/>
        <c:tickLblPos val="nextTo"/>
        <c:spPr>
          <a:ln>
            <a:noFill/>
          </a:ln>
        </c:spPr>
        <c:txPr>
          <a:bodyPr/>
          <a:lstStyle/>
          <a:p>
            <a:pPr>
              <a:defRPr sz="1100">
                <a:solidFill>
                  <a:srgbClr val="8A8984"/>
                </a:solidFill>
              </a:defRPr>
            </a:pPr>
          </a:p>
        </c:txPr>
        <c:crossAx val="-2068027336"/>
        <c:crosses val="autoZero"/>
      </c:valAx>
    </c:plotArea>
    <c:legend>
      <c:legendPos val="b"/>
      <c:overlay val="0"/>
      <c:txPr>
        <a:bodyPr/>
        <a:lstStyle/>
        <a:p>
          <a:pPr>
            <a:defRPr sz="13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Student media</c:v>
                </c:pt>
              </c:strCache>
            </c:strRef>
          </c:tx>
          <c:spPr>
            <a:solidFill>
              <a:srgbClr val="2A78D6"/>
            </a:solidFill>
          </c:spPr>
          <c:dLbls>
            <c:numFmt formatCode="0;;;" sourceLinked="0"/>
            <c:txPr>
              <a:bodyPr/>
              <a:lstStyle/>
              <a:p>
                <a:pPr>
                  <a:defRPr sz="1100"/>
                </a:pPr>
              </a:p>
            </c:txPr>
            <c:dLblPos val="outEnd"/>
            <c:showLegendKey val="0"/>
            <c:showVal val="1"/>
            <c:showCatName val="0"/>
            <c:showSerName val="0"/>
            <c:showPercent val="0"/>
            <c:showBubbleSize val="0"/>
            <c:showLeaderLines val="1"/>
          </c:dLbls>
          <c:cat>
            <c:strRef>
              <c:f>Sheet1!$A$2:$A$6</c:f>
              <c:strCache>
                <c:ptCount val="5"/>
                <c:pt idx="0">
                  <c:v>De-index/anonymize, archive kept</c:v>
                </c:pt>
                <c:pt idx="1">
                  <c:v>Unpublishing permitted</c:v>
                </c:pt>
                <c:pt idx="2">
                  <c:v>Update / editor's note only</c:v>
                </c:pt>
                <c:pt idx="3">
                  <c:v>No relief</c:v>
                </c:pt>
                <c:pt idx="4">
                  <c:v>Not addressed</c:v>
                </c:pt>
              </c:strCache>
            </c:strRef>
          </c:cat>
          <c:val>
            <c:numRef>
              <c:f>Sheet1!$B$2:$B$6</c:f>
              <c:numCache>
                <c:formatCode>General</c:formatCode>
                <c:ptCount val="5"/>
                <c:pt idx="0">
                  <c:v>47</c:v>
                </c:pt>
                <c:pt idx="1">
                  <c:v>32</c:v>
                </c:pt>
                <c:pt idx="2">
                  <c:v>48</c:v>
                </c:pt>
                <c:pt idx="3">
                  <c:v>8</c:v>
                </c:pt>
                <c:pt idx="4">
                  <c:v>342</c:v>
                </c:pt>
              </c:numCache>
            </c:numRef>
          </c:val>
        </c:ser>
        <c:ser>
          <c:idx val="1"/>
          <c:order val="1"/>
          <c:tx>
            <c:strRef>
              <c:f>Sheet1!$C$1</c:f>
              <c:strCache>
                <c:ptCount val="1"/>
                <c:pt idx="0">
                  <c:v>Professional newsrooms</c:v>
                </c:pt>
              </c:strCache>
            </c:strRef>
          </c:tx>
          <c:spPr>
            <a:solidFill>
              <a:srgbClr val="EB6834"/>
            </a:solidFill>
          </c:spPr>
          <c:dLbls>
            <c:numFmt formatCode="0;;;" sourceLinked="0"/>
            <c:txPr>
              <a:bodyPr/>
              <a:lstStyle/>
              <a:p>
                <a:pPr>
                  <a:defRPr sz="1100"/>
                </a:pPr>
              </a:p>
            </c:txPr>
            <c:dLblPos val="outEnd"/>
            <c:showLegendKey val="0"/>
            <c:showVal val="1"/>
            <c:showCatName val="0"/>
            <c:showSerName val="0"/>
            <c:showPercent val="0"/>
            <c:showBubbleSize val="0"/>
            <c:showLeaderLines val="1"/>
          </c:dLbls>
          <c:cat>
            <c:strRef>
              <c:f>Sheet1!$A$2:$A$6</c:f>
              <c:strCache>
                <c:ptCount val="5"/>
                <c:pt idx="0">
                  <c:v>De-index/anonymize, archive kept</c:v>
                </c:pt>
                <c:pt idx="1">
                  <c:v>Unpublishing permitted</c:v>
                </c:pt>
                <c:pt idx="2">
                  <c:v>Update / editor's note only</c:v>
                </c:pt>
                <c:pt idx="3">
                  <c:v>No relief</c:v>
                </c:pt>
                <c:pt idx="4">
                  <c:v>Not addressed</c:v>
                </c:pt>
              </c:strCache>
            </c:strRef>
          </c:cat>
          <c:val>
            <c:numRef>
              <c:f>Sheet1!$C$2:$C$6</c:f>
              <c:numCache>
                <c:formatCode>General</c:formatCode>
                <c:ptCount val="5"/>
                <c:pt idx="0">
                  <c:v>63</c:v>
                </c:pt>
                <c:pt idx="1">
                  <c:v>36</c:v>
                </c:pt>
                <c:pt idx="2">
                  <c:v>153</c:v>
                </c:pt>
                <c:pt idx="3">
                  <c:v>4</c:v>
                </c:pt>
                <c:pt idx="4">
                  <c:v>976</c:v>
                </c:pt>
              </c:numCache>
            </c:numRef>
          </c:val>
        </c:ser>
        <c:ser>
          <c:idx val="2"/>
          <c:order val="2"/>
          <c:tx>
            <c:strRef>
              <c:f>Sheet1!$D$1</c:f>
              <c:strCache>
                <c:ptCount val="1"/>
                <c:pt idx="0">
                  <c:v>Standards &amp; support orgs</c:v>
                </c:pt>
              </c:strCache>
            </c:strRef>
          </c:tx>
          <c:spPr>
            <a:solidFill>
              <a:srgbClr val="1BAF7A"/>
            </a:solidFill>
          </c:spPr>
          <c:dLbls>
            <c:numFmt formatCode="0;;;" sourceLinked="0"/>
            <c:txPr>
              <a:bodyPr/>
              <a:lstStyle/>
              <a:p>
                <a:pPr>
                  <a:defRPr sz="1100"/>
                </a:pPr>
              </a:p>
            </c:txPr>
            <c:dLblPos val="outEnd"/>
            <c:showLegendKey val="0"/>
            <c:showVal val="1"/>
            <c:showCatName val="0"/>
            <c:showSerName val="0"/>
            <c:showPercent val="0"/>
            <c:showBubbleSize val="0"/>
            <c:showLeaderLines val="1"/>
          </c:dLbls>
          <c:cat>
            <c:strRef>
              <c:f>Sheet1!$A$2:$A$6</c:f>
              <c:strCache>
                <c:ptCount val="5"/>
                <c:pt idx="0">
                  <c:v>De-index/anonymize, archive kept</c:v>
                </c:pt>
                <c:pt idx="1">
                  <c:v>Unpublishing permitted</c:v>
                </c:pt>
                <c:pt idx="2">
                  <c:v>Update / editor's note only</c:v>
                </c:pt>
                <c:pt idx="3">
                  <c:v>No relief</c:v>
                </c:pt>
                <c:pt idx="4">
                  <c:v>Not addressed</c:v>
                </c:pt>
              </c:strCache>
            </c:strRef>
          </c:cat>
          <c:val>
            <c:numRef>
              <c:f>Sheet1!$D$2:$D$6</c:f>
              <c:numCache>
                <c:formatCode>General</c:formatCode>
                <c:ptCount val="5"/>
                <c:pt idx="0">
                  <c:v>2</c:v>
                </c:pt>
                <c:pt idx="1">
                  <c:v>2</c:v>
                </c:pt>
                <c:pt idx="2">
                  <c:v>3</c:v>
                </c:pt>
                <c:pt idx="3">
                  <c:v>0</c:v>
                </c:pt>
                <c:pt idx="4">
                  <c:v>39</c:v>
                </c:pt>
              </c:numCache>
            </c:numRef>
          </c:val>
        </c:ser>
        <c:gapWidth val="60"/>
        <c:axId val="-2068027336"/>
        <c:axId val="-2113994440"/>
      </c:barChart>
      <c:catAx>
        <c:axId val="-2068027336"/>
        <c:scaling>
          <c:orientation val="maxMin"/>
        </c:scaling>
        <c:delete val="0"/>
        <c:axPos val="l"/>
        <c:majorTickMark val="out"/>
        <c:minorTickMark val="none"/>
        <c:tickLblPos val="nextTo"/>
        <c:spPr>
          <a:ln>
            <a:solidFill>
              <a:srgbClr val="C9C8C3"/>
            </a:solidFill>
          </a:ln>
        </c:spPr>
        <c:txPr>
          <a:bodyPr/>
          <a:lstStyle/>
          <a:p>
            <a:pPr>
              <a:defRPr sz="1300"/>
            </a:pPr>
          </a:p>
        </c:txPr>
        <c:crossAx val="-2113994440"/>
        <c:crosses val="autoZero"/>
        <c:auto val="1"/>
        <c:lblAlgn val="ctr"/>
        <c:lblOffset val="100"/>
        <c:noMultiLvlLbl val="0"/>
      </c:catAx>
      <c:valAx>
        <c:axId val="-2113994440"/>
        <c:scaling>
          <c:min val="0.0"/>
        </c:scaling>
        <c:delete val="0"/>
        <c:axPos val="b"/>
        <c:majorGridlines>
          <c:spPr>
            <a:ln>
              <a:solidFill>
                <a:srgbClr val="ECEBE7"/>
              </a:solidFill>
            </a:ln>
          </c:spPr>
        </c:majorGridlines>
        <c:majorTickMark val="out"/>
        <c:minorTickMark val="none"/>
        <c:tickLblPos val="nextTo"/>
        <c:spPr>
          <a:ln>
            <a:noFill/>
          </a:ln>
        </c:spPr>
        <c:txPr>
          <a:bodyPr/>
          <a:lstStyle/>
          <a:p>
            <a:pPr>
              <a:defRPr sz="1100">
                <a:solidFill>
                  <a:srgbClr val="8A8984"/>
                </a:solidFill>
              </a:defRPr>
            </a:pPr>
          </a:p>
        </c:txPr>
        <c:crossAx val="-2068027336"/>
        <c:crosses val="autoZero"/>
      </c:valAx>
    </c:plotArea>
    <c:legend>
      <c:legendPos val="b"/>
      <c:overlay val="0"/>
      <c:txPr>
        <a:bodyPr/>
        <a:lstStyle/>
        <a:p>
          <a:pPr>
            <a:defRPr sz="1300"/>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EVIDENCE BRIEFING · 2026-10-14 19:17 UTC</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Post-publication relief in U.S. journalism: the evidence</a:t>
            </a:r>
          </a:p>
        </p:txBody>
      </p:sp>
      <p:sp>
        <p:nvSpPr>
          <p:cNvPr id="4" name="TextBox 3"/>
          <p:cNvSpPr txBox="1"/>
          <p:nvPr/>
        </p:nvSpPr>
        <p:spPr>
          <a:xfrm>
            <a:off x="548640" y="2011680"/>
            <a:ext cx="10972800" cy="2286000"/>
          </a:xfrm>
          <a:prstGeom prst="rect">
            <a:avLst/>
          </a:prstGeom>
          <a:noFill/>
        </p:spPr>
        <p:txBody>
          <a:bodyPr wrap="square">
            <a:spAutoFit/>
          </a:bodyPr>
          <a:lstStyle/>
          <a:p>
            <a:pPr>
              <a:spcAft>
                <a:spcPts val="600"/>
              </a:spcAft>
            </a:pPr>
            <a:r>
              <a:rPr sz="2000" b="0" i="0">
                <a:solidFill>
                  <a:srgbClr val="52514E"/>
                </a:solidFill>
                <a:latin typeface="Arial"/>
              </a:rPr>
              <a:t>How U.S. journalism organizations handle requests to de-index, anonymize, update or remove truthful archived reporting after circumstances change.</a:t>
            </a:r>
          </a:p>
          <a:p>
            <a:pPr>
              <a:spcAft>
                <a:spcPts val="600"/>
              </a:spcAft>
            </a:pPr>
            <a:r>
              <a:rPr sz="2000" b="0" i="0">
                <a:solidFill>
                  <a:srgbClr val="52514E"/>
                </a:solidFill>
                <a:latin typeface="Arial"/>
              </a:rPr>
              <a:t>Every statement in this deck is drawn from a source listed in the accompanying workbook, with its URL, fetch time and page hash.</a:t>
            </a:r>
          </a:p>
        </p:txBody>
      </p:sp>
      <p:sp>
        <p:nvSpPr>
          <p:cNvPr id="5" name="TextBox 4"/>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Prepared with NSMPA 0.8.5 · scope: latest stance per entity (excluded runs omitted) · names of private individuals withheld (automated redaction)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METHOD</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How the evidence was gathered</a:t>
            </a:r>
          </a:p>
        </p:txBody>
      </p:sp>
      <p:sp>
        <p:nvSpPr>
          <p:cNvPr id="4" name="TextBox 3"/>
          <p:cNvSpPr txBox="1"/>
          <p:nvPr/>
        </p:nvSpPr>
        <p:spPr>
          <a:xfrm>
            <a:off x="548640" y="1645920"/>
            <a:ext cx="11064240" cy="4480560"/>
          </a:xfrm>
          <a:prstGeom prst="rect">
            <a:avLst/>
          </a:prstGeom>
          <a:noFill/>
        </p:spPr>
        <p:txBody>
          <a:bodyPr wrap="square">
            <a:spAutoFit/>
          </a:bodyPr>
          <a:lstStyle/>
          <a:p>
            <a:pPr>
              <a:spcAft>
                <a:spcPts val="600"/>
              </a:spcAft>
            </a:pPr>
            <a:r>
              <a:rPr sz="1800" b="0" i="0">
                <a:solidFill>
                  <a:srgbClr val="0B0B0B"/>
                </a:solidFill>
                <a:latin typeface="Arial"/>
              </a:rPr>
              <a:t>• Three separate groups, never pooled: student newspapers (IPEDS four-year institutions), professional newsrooms, and journalism standards / legal / ethics organizations.</a:t>
            </a:r>
          </a:p>
          <a:p>
            <a:pPr>
              <a:spcAft>
                <a:spcPts val="600"/>
              </a:spcAft>
            </a:pPr>
            <a:r>
              <a:rPr sz="1800" b="0" i="0">
                <a:solidFill>
                  <a:srgbClr val="0B0B0B"/>
                </a:solidFill>
                <a:latin typeface="Arial"/>
              </a:rPr>
              <a:t>• Each organization's own site was searched and read for written policy; its archive was sampled for what it actually did (editor's notes, name removals, noindex tags on old crime stories).</a:t>
            </a:r>
          </a:p>
          <a:p>
            <a:pPr>
              <a:spcAft>
                <a:spcPts val="600"/>
              </a:spcAft>
            </a:pPr>
            <a:r>
              <a:rPr sz="1800" b="0" i="0">
                <a:solidFill>
                  <a:srgbClr val="0B0B0B"/>
                </a:solidFill>
                <a:latin typeface="Arial"/>
              </a:rPr>
              <a:t>• Supportive and opposing language were searched for with equal effort; opposing evidence is reported in full.</a:t>
            </a:r>
          </a:p>
          <a:p>
            <a:pPr>
              <a:spcAft>
                <a:spcPts val="600"/>
              </a:spcAft>
            </a:pPr>
            <a:r>
              <a:rPr sz="1800" b="0" i="0">
                <a:solidFill>
                  <a:srgbClr val="0B0B0B"/>
                </a:solidFill>
                <a:latin typeface="Arial"/>
              </a:rPr>
              <a:t>• Sites that could not be inspected are 'undetermined', never counted as 'no policy'.</a:t>
            </a:r>
          </a:p>
          <a:p>
            <a:pPr>
              <a:spcAft>
                <a:spcPts val="600"/>
              </a:spcAft>
            </a:pPr>
            <a:r>
              <a:rPr sz="1800" b="0" i="0">
                <a:solidFill>
                  <a:srgbClr val="0B0B0B"/>
                </a:solidFill>
                <a:latin typeface="Arial"/>
              </a:rPr>
              <a:t>• Every excerpt is stored with its URL, fetch time and SHA-256 hash; snapshots are kept unchanged.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WHICH KIND OF RELIEF, BY GROUP</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De-indexing and anonymization vs. unpublishing</a:t>
            </a:r>
          </a:p>
        </p:txBody>
      </p:sp>
      <p:graphicFrame>
        <p:nvGraphicFramePr>
          <p:cNvPr id="4" name="Chart 3"/>
          <p:cNvGraphicFramePr>
            <a:graphicFrameLocks noGrp="1"/>
          </p:cNvGraphicFramePr>
          <p:nvPr/>
        </p:nvGraphicFramePr>
        <p:xfrm>
          <a:off x="548640" y="1554480"/>
          <a:ext cx="7680960" cy="4480560"/>
        </p:xfrm>
        <a:graphic>
          <a:graphicData uri="http://schemas.openxmlformats.org/drawingml/2006/chart">
            <c:chart xmlns:c="http://schemas.openxmlformats.org/drawingml/2006/chart" r:id="rId2"/>
          </a:graphicData>
        </a:graphic>
      </p:graphicFrame>
      <p:sp>
        <p:nvSpPr>
          <p:cNvPr id="5" name="TextBox 4"/>
          <p:cNvSpPr txBox="1"/>
          <p:nvPr/>
        </p:nvSpPr>
        <p:spPr>
          <a:xfrm>
            <a:off x="8412480" y="1645920"/>
            <a:ext cx="3291840" cy="4389120"/>
          </a:xfrm>
          <a:prstGeom prst="rect">
            <a:avLst/>
          </a:prstGeom>
          <a:noFill/>
        </p:spPr>
        <p:txBody>
          <a:bodyPr wrap="square">
            <a:spAutoFit/>
          </a:bodyPr>
          <a:lstStyle/>
          <a:p>
            <a:pPr>
              <a:spcAft>
                <a:spcPts val="600"/>
              </a:spcAft>
            </a:pPr>
            <a:r>
              <a:rPr sz="1300" b="0" i="0">
                <a:solidFill>
                  <a:srgbClr val="52514E"/>
                </a:solidFill>
                <a:latin typeface="Arial"/>
              </a:rPr>
              <a:t>Student media: 477 researched (preliminary — counts only); 51 allow relief that keeps the archive; 13 reject unpublishing.</a:t>
            </a:r>
          </a:p>
          <a:p>
            <a:pPr>
              <a:spcAft>
                <a:spcPts val="600"/>
              </a:spcAft>
            </a:pPr>
            <a:r>
              <a:rPr sz="1300" b="0" i="0">
                <a:solidFill>
                  <a:srgbClr val="52514E"/>
                </a:solidFill>
                <a:latin typeface="Arial"/>
              </a:rPr>
              <a:t>Professional newsrooms: 1232 researched (preliminary — counts only); 69 allow relief that keeps the archive; 10 reject unpublishing.</a:t>
            </a:r>
          </a:p>
          <a:p>
            <a:pPr>
              <a:spcAft>
                <a:spcPts val="600"/>
              </a:spcAft>
            </a:pPr>
            <a:r>
              <a:rPr sz="1300" b="0" i="0">
                <a:solidFill>
                  <a:srgbClr val="52514E"/>
                </a:solidFill>
                <a:latin typeface="Arial"/>
              </a:rPr>
              <a:t>Standards &amp; support orgs: 46 researched (preliminary — counts only); 3 allow relief that keeps the archive; 0 reject unpublishing.</a:t>
            </a:r>
          </a:p>
        </p:txBody>
      </p:sp>
      <p:sp>
        <p:nvSpPr>
          <p:cNvPr id="6" name="TextBox 5"/>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Counts of organizations. Source rows: workbook sheet 'De-index vs Unpublish'.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OVERALL POSITION BY GROUP</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Where each group stands</a:t>
            </a:r>
          </a:p>
        </p:txBody>
      </p:sp>
      <p:graphicFrame>
        <p:nvGraphicFramePr>
          <p:cNvPr id="4" name="Chart 3"/>
          <p:cNvGraphicFramePr>
            <a:graphicFrameLocks noGrp="1"/>
          </p:cNvGraphicFramePr>
          <p:nvPr/>
        </p:nvGraphicFramePr>
        <p:xfrm>
          <a:off x="548640" y="1554480"/>
          <a:ext cx="11064240" cy="4480560"/>
        </p:xfrm>
        <a:graphic>
          <a:graphicData uri="http://schemas.openxmlformats.org/drawingml/2006/chart">
            <c:chart xmlns:c="http://schemas.openxmlformats.org/drawingml/2006/chart" r:id="rId2"/>
          </a:graphicData>
        </a:graphic>
      </p:graphicFrame>
      <p:sp>
        <p:nvSpPr>
          <p:cNvPr id="5" name="TextBox 4"/>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Each organization counted once, in its own group. 'Not addressed' includes organizations whose sites could not be fully inspected.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KNOWN INITIATIVES</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Named programs and precedents</a:t>
            </a:r>
          </a:p>
        </p:txBody>
      </p:sp>
      <p:graphicFrame>
        <p:nvGraphicFramePr>
          <p:cNvPr id="4" name="Table 3"/>
          <p:cNvGraphicFramePr>
            <a:graphicFrameLocks noGrp="1"/>
          </p:cNvGraphicFramePr>
          <p:nvPr/>
        </p:nvGraphicFramePr>
        <p:xfrm>
          <a:off x="548640" y="1554480"/>
          <a:ext cx="11064240" cy="4114800"/>
        </p:xfrm>
        <a:graphic>
          <a:graphicData uri="http://schemas.openxmlformats.org/drawingml/2006/table">
            <a:tbl>
              <a:tblPr firstRow="1" bandRow="1">
                <a:tableStyleId>{5C22544A-7EE6-4342-B048-85BDC9FD1C3A}</a:tableStyleId>
              </a:tblPr>
              <a:tblGrid>
                <a:gridCol w="2377440"/>
                <a:gridCol w="3108960"/>
                <a:gridCol w="822960"/>
                <a:gridCol w="4754880"/>
              </a:tblGrid>
              <a:tr h="457200">
                <a:tc>
                  <a:txBody>
                    <a:bodyPr/>
                    <a:lstStyle/>
                    <a:p>
                      <a:r>
                        <a:t>Organization</a:t>
                      </a:r>
                    </a:p>
                  </a:txBody>
                  <a:tcPr/>
                </a:tc>
                <a:tc>
                  <a:txBody>
                    <a:bodyPr/>
                    <a:lstStyle/>
                    <a:p>
                      <a:r>
                        <a:t>Program / document</a:t>
                      </a:r>
                    </a:p>
                  </a:txBody>
                  <a:tcPr/>
                </a:tc>
                <a:tc>
                  <a:txBody>
                    <a:bodyPr/>
                    <a:lstStyle/>
                    <a:p>
                      <a:r>
                        <a:t>Year</a:t>
                      </a:r>
                    </a:p>
                  </a:txBody>
                  <a:tcPr/>
                </a:tc>
                <a:tc>
                  <a:txBody>
                    <a:bodyPr/>
                    <a:lstStyle/>
                    <a:p>
                      <a:r>
                        <a:t>Status</a:t>
                      </a:r>
                    </a:p>
                  </a:txBody>
                  <a:tcPr/>
                </a:tc>
              </a:tr>
              <a:tr h="457200">
                <a:tc>
                  <a:txBody>
                    <a:bodyPr/>
                    <a:lstStyle/>
                    <a:p>
                      <a:r>
                        <a:rPr sz="1300"/>
                        <a:t>Associated Press</a:t>
                      </a:r>
                    </a:p>
                  </a:txBody>
                  <a:tcPr/>
                </a:tc>
                <a:tc>
                  <a:txBody>
                    <a:bodyPr/>
                    <a:lstStyle/>
                    <a:p>
                      <a:r>
                        <a:rPr sz="1300"/>
                        <a:t>Direct de-indexing policy</a:t>
                      </a:r>
                    </a:p>
                  </a:txBody>
                  <a:tcPr/>
                </a:tc>
                <a:tc>
                  <a:txBody>
                    <a:bodyPr/>
                    <a:lstStyle/>
                    <a:p/>
                  </a:txBody>
                  <a:tcPr/>
                </a:tc>
                <a:tc>
                  <a:txBody>
                    <a:bodyPr/>
                    <a:lstStyle/>
                    <a:p>
                      <a:r>
                        <a:rPr sz="1300"/>
                        <a:t>UNVERIFIED — confirm against source before quoting</a:t>
                      </a:r>
                    </a:p>
                  </a:txBody>
                  <a:tcPr/>
                </a:tc>
              </a:tr>
              <a:tr h="457200">
                <a:tc>
                  <a:txBody>
                    <a:bodyPr/>
                    <a:lstStyle/>
                    <a:p>
                      <a:r>
                        <a:rPr sz="1300"/>
                        <a:t>Atlanta Journal-Constitution</a:t>
                      </a:r>
                    </a:p>
                  </a:txBody>
                  <a:tcPr/>
                </a:tc>
                <a:tc>
                  <a:txBody>
                    <a:bodyPr/>
                    <a:lstStyle/>
                    <a:p>
                      <a:r>
                        <a:rPr sz="1300"/>
                        <a:t>Search-suppression review</a:t>
                      </a:r>
                    </a:p>
                  </a:txBody>
                  <a:tcPr/>
                </a:tc>
                <a:tc>
                  <a:txBody>
                    <a:bodyPr/>
                    <a:lstStyle/>
                    <a:p/>
                  </a:txBody>
                  <a:tcPr/>
                </a:tc>
                <a:tc>
                  <a:txBody>
                    <a:bodyPr/>
                    <a:lstStyle/>
                    <a:p>
                      <a:r>
                        <a:rPr sz="1300"/>
                        <a:t>UNVERIFIED — confirm against source before quoting</a:t>
                      </a:r>
                    </a:p>
                  </a:txBody>
                  <a:tcPr/>
                </a:tc>
              </a:tr>
              <a:tr h="457200">
                <a:tc>
                  <a:txBody>
                    <a:bodyPr/>
                    <a:lstStyle/>
                    <a:p>
                      <a:r>
                        <a:rPr sz="1300"/>
                        <a:t>Bangor Daily News</a:t>
                      </a:r>
                    </a:p>
                  </a:txBody>
                  <a:tcPr/>
                </a:tc>
                <a:tc>
                  <a:txBody>
                    <a:bodyPr/>
                    <a:lstStyle/>
                    <a:p>
                      <a:r>
                        <a:rPr sz="1300"/>
                        <a:t>Direct de-indexing policy</a:t>
                      </a:r>
                    </a:p>
                  </a:txBody>
                  <a:tcPr/>
                </a:tc>
                <a:tc>
                  <a:txBody>
                    <a:bodyPr/>
                    <a:lstStyle/>
                    <a:p/>
                  </a:txBody>
                  <a:tcPr/>
                </a:tc>
                <a:tc>
                  <a:txBody>
                    <a:bodyPr/>
                    <a:lstStyle/>
                    <a:p>
                      <a:r>
                        <a:rPr sz="1300"/>
                        <a:t>UNVERIFIED — confirm against source before quoting</a:t>
                      </a:r>
                    </a:p>
                  </a:txBody>
                  <a:tcPr/>
                </a:tc>
              </a:tr>
              <a:tr h="457200">
                <a:tc>
                  <a:txBody>
                    <a:bodyPr/>
                    <a:lstStyle/>
                    <a:p>
                      <a:r>
                        <a:rPr sz="1300"/>
                        <a:t>Boston.com</a:t>
                      </a:r>
                    </a:p>
                  </a:txBody>
                  <a:tcPr/>
                </a:tc>
                <a:tc>
                  <a:txBody>
                    <a:bodyPr/>
                    <a:lstStyle/>
                    <a:p>
                      <a:r>
                        <a:rPr sz="1300"/>
                        <a:t>Direct de-indexing policy</a:t>
                      </a:r>
                    </a:p>
                  </a:txBody>
                  <a:tcPr/>
                </a:tc>
                <a:tc>
                  <a:txBody>
                    <a:bodyPr/>
                    <a:lstStyle/>
                    <a:p/>
                  </a:txBody>
                  <a:tcPr/>
                </a:tc>
                <a:tc>
                  <a:txBody>
                    <a:bodyPr/>
                    <a:lstStyle/>
                    <a:p>
                      <a:r>
                        <a:rPr sz="1300"/>
                        <a:t>UNVERIFIED — confirm against source before quoting</a:t>
                      </a:r>
                    </a:p>
                  </a:txBody>
                  <a:tcPr/>
                </a:tc>
              </a:tr>
              <a:tr h="457200">
                <a:tc>
                  <a:txBody>
                    <a:bodyPr/>
                    <a:lstStyle/>
                    <a:p>
                      <a:r>
                        <a:rPr sz="1300"/>
                        <a:t>Chicago Sun-Times</a:t>
                      </a:r>
                    </a:p>
                  </a:txBody>
                  <a:tcPr/>
                </a:tc>
                <a:tc>
                  <a:txBody>
                    <a:bodyPr/>
                    <a:lstStyle/>
                    <a:p>
                      <a:r>
                        <a:rPr sz="1300"/>
                        <a:t>Direct de-indexing policy</a:t>
                      </a:r>
                    </a:p>
                  </a:txBody>
                  <a:tcPr/>
                </a:tc>
                <a:tc>
                  <a:txBody>
                    <a:bodyPr/>
                    <a:lstStyle/>
                    <a:p/>
                  </a:txBody>
                  <a:tcPr/>
                </a:tc>
                <a:tc>
                  <a:txBody>
                    <a:bodyPr/>
                    <a:lstStyle/>
                    <a:p>
                      <a:r>
                        <a:rPr sz="1300"/>
                        <a:t>UNVERIFIED — confirm against source before quoting</a:t>
                      </a:r>
                    </a:p>
                  </a:txBody>
                  <a:tcPr/>
                </a:tc>
              </a:tr>
              <a:tr h="457200">
                <a:tc>
                  <a:txBody>
                    <a:bodyPr/>
                    <a:lstStyle/>
                    <a:p>
                      <a:r>
                        <a:rPr sz="1300"/>
                        <a:t>cleveland.com</a:t>
                      </a:r>
                    </a:p>
                  </a:txBody>
                  <a:tcPr/>
                </a:tc>
                <a:tc>
                  <a:txBody>
                    <a:bodyPr/>
                    <a:lstStyle/>
                    <a:p>
                      <a:r>
                        <a:rPr sz="1300"/>
                        <a:t>Right-to-be-forgotten review</a:t>
                      </a:r>
                    </a:p>
                  </a:txBody>
                  <a:tcPr/>
                </a:tc>
                <a:tc>
                  <a:txBody>
                    <a:bodyPr/>
                    <a:lstStyle/>
                    <a:p/>
                  </a:txBody>
                  <a:tcPr/>
                </a:tc>
                <a:tc>
                  <a:txBody>
                    <a:bodyPr/>
                    <a:lstStyle/>
                    <a:p>
                      <a:r>
                        <a:rPr sz="1300"/>
                        <a:t>UNVERIFIED — confirm against source before quoting</a:t>
                      </a:r>
                    </a:p>
                  </a:txBody>
                  <a:tcPr/>
                </a:tc>
              </a:tr>
              <a:tr h="457200">
                <a:tc>
                  <a:txBody>
                    <a:bodyPr/>
                    <a:lstStyle/>
                    <a:p>
                      <a:r>
                        <a:rPr sz="1300"/>
                        <a:t>Lexington Herald-Leader</a:t>
                      </a:r>
                    </a:p>
                  </a:txBody>
                  <a:tcPr/>
                </a:tc>
                <a:tc>
                  <a:txBody>
                    <a:bodyPr/>
                    <a:lstStyle/>
                    <a:p>
                      <a:r>
                        <a:rPr sz="1300"/>
                        <a:t>Clean Slate / reviewed changes</a:t>
                      </a:r>
                    </a:p>
                  </a:txBody>
                  <a:tcPr/>
                </a:tc>
                <a:tc>
                  <a:txBody>
                    <a:bodyPr/>
                    <a:lstStyle/>
                    <a:p/>
                  </a:txBody>
                  <a:tcPr/>
                </a:tc>
                <a:tc>
                  <a:txBody>
                    <a:bodyPr/>
                    <a:lstStyle/>
                    <a:p>
                      <a:r>
                        <a:rPr sz="1300"/>
                        <a:t>UNVERIFIED — confirm against source before quoting</a:t>
                      </a:r>
                    </a:p>
                  </a:txBody>
                  <a:tcPr/>
                </a:tc>
              </a:tr>
              <a:tr h="457200">
                <a:tc>
                  <a:txBody>
                    <a:bodyPr/>
                    <a:lstStyle/>
                    <a:p>
                      <a:r>
                        <a:rPr sz="1300"/>
                        <a:t>NBC 4 New York</a:t>
                      </a:r>
                    </a:p>
                  </a:txBody>
                  <a:tcPr/>
                </a:tc>
                <a:tc>
                  <a:txBody>
                    <a:bodyPr/>
                    <a:lstStyle/>
                    <a:p>
                      <a:r>
                        <a:rPr sz="1300"/>
                        <a:t>Shared digital-removal standards</a:t>
                      </a:r>
                    </a:p>
                  </a:txBody>
                  <a:tcPr/>
                </a:tc>
                <a:tc>
                  <a:txBody>
                    <a:bodyPr/>
                    <a:lstStyle/>
                    <a:p/>
                  </a:txBody>
                  <a:tcPr/>
                </a:tc>
                <a:tc>
                  <a:txBody>
                    <a:bodyPr/>
                    <a:lstStyle/>
                    <a:p>
                      <a:r>
                        <a:rPr sz="1300"/>
                        <a:t>UNVERIFIED — confirm against source before quoting</a:t>
                      </a:r>
                    </a:p>
                  </a:txBody>
                  <a:tcPr/>
                </a:tc>
              </a:tr>
            </a:tbl>
          </a:graphicData>
        </a:graphic>
      </p:graphicFrame>
      <p:sp>
        <p:nvSpPr>
          <p:cNvPr id="5" name="TextBox 4"/>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Workbook sheet 'Named Precedents' lists every lead, including those not found.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1 · PRECEDENT_CASE</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Associated Press — Direct de-indexing policy</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“In those cases, the AP would also request that Google “deindex” the stories, removing them from its search results.”</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https://www.ap.org/contact-us/minor-crimes/</a:t>
            </a:r>
          </a:p>
          <a:p>
            <a:pPr>
              <a:spcAft>
                <a:spcPts val="600"/>
              </a:spcAft>
            </a:pPr>
            <a:r>
              <a:rPr sz="1200" b="0" i="0">
                <a:solidFill>
                  <a:srgbClr val="52514E"/>
                </a:solidFill>
                <a:latin typeface="Arial"/>
              </a:rPr>
              <a:t>Fetched 2026-10-08 15:41:11 · page SHA-256 50a1d590f771fd3b…</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2 · PRECEDENT_CASE</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WUFT — De-indexing among options</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“Alternatives to removal In some cases, WUFT may offer alternatives to removal or search engine deindexing: Updating the article to reflect the current status (e.g., charges dropped, rehabilitation, successful appeal).”</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https://www.wuft.org/editorial-policies</a:t>
            </a:r>
          </a:p>
          <a:p>
            <a:pPr>
              <a:spcAft>
                <a:spcPts val="600"/>
              </a:spcAft>
            </a:pPr>
            <a:r>
              <a:rPr sz="1200" b="0" i="0">
                <a:solidFill>
                  <a:srgbClr val="52514E"/>
                </a:solidFill>
                <a:latin typeface="Arial"/>
              </a:rPr>
              <a:t>Fetched 2026-10-08 15:54:00 · page SHA-256 c1ad4bd49906364b…</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3 · PROFESSIONAL NEWSROOMS</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Gilroy Dispatch</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“In rare cases — a demonstrated threat to someone’s safety, charges that were dropped or expunged, or coverage of minors — an editor may update a story with new information, de-index it from search engines or, in exceptional circumstances, remove it.”</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https://gilroydispatch.com/ethics-policy/</a:t>
            </a:r>
          </a:p>
          <a:p>
            <a:pPr>
              <a:spcAft>
                <a:spcPts val="600"/>
              </a:spcAft>
            </a:pPr>
            <a:r>
              <a:rPr sz="1200" b="0" i="0">
                <a:solidFill>
                  <a:srgbClr val="52514E"/>
                </a:solidFill>
                <a:latin typeface="Arial"/>
              </a:rPr>
              <a:t>Fetched 2026-10-09 02:22:27 · page SHA-256 e697a303fb02815b…</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4 · PROFESSIONAL NEWSROOMS</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Connecticut Post</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“In circumstances where we determine that an update or correction is insufficient, Hearst newspapers may consider alternatives including applying deindexing tags to an article, which may limit the ability of search engines to find it.”</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https://www.ctpost.com/standards/</a:t>
            </a:r>
          </a:p>
          <a:p>
            <a:pPr>
              <a:spcAft>
                <a:spcPts val="600"/>
              </a:spcAft>
            </a:pPr>
            <a:r>
              <a:rPr sz="1200" b="0" i="0">
                <a:solidFill>
                  <a:srgbClr val="52514E"/>
                </a:solidFill>
                <a:latin typeface="Arial"/>
              </a:rPr>
              <a:t>Fetched 2026-10-09 05:19:05 · page SHA-256 c90aa673396ebb50…</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5 · PROFESSIONAL NEWSROOMS</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Telegraph</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“In circumstances where we determine that an update or correction is insufficient, Hearst newspapers may consider alternatives including applying deindexing tags to an article, which may limit the ability of search engines to find it.”</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https://www.thetelegraph.com/standards/</a:t>
            </a:r>
          </a:p>
          <a:p>
            <a:pPr>
              <a:spcAft>
                <a:spcPts val="600"/>
              </a:spcAft>
            </a:pPr>
            <a:r>
              <a:rPr sz="1200" b="0" i="0">
                <a:solidFill>
                  <a:srgbClr val="52514E"/>
                </a:solidFill>
                <a:latin typeface="Arial"/>
              </a:rPr>
              <a:t>Fetched 2026-10-09 05:54:12 · page SHA-256 89b1a3ee6117069a…</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6 · PROFESSIONAL NEWSROOMS</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Huron Daily Tribune</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“In circumstances where we determine that an update or correction is insufficient, Hearst newspapers may consider alternatives including applying deindexing tags to an article, which may limit the ability of search engines to find it.”</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https://www.michigansthumb.com/standards/</a:t>
            </a:r>
          </a:p>
          <a:p>
            <a:pPr>
              <a:spcAft>
                <a:spcPts val="600"/>
              </a:spcAft>
            </a:pPr>
            <a:r>
              <a:rPr sz="1200" b="0" i="0">
                <a:solidFill>
                  <a:srgbClr val="52514E"/>
                </a:solidFill>
                <a:latin typeface="Arial"/>
              </a:rPr>
              <a:t>Fetched 2026-10-09 06:11:27 · page SHA-256 2f5769095bcfeb5a…</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7 · PROFESSIONAL NEWSROOMS</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Lake County Star</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“In circumstances where we determine that an update or correction is insufficient, Hearst newspapers may consider alternatives including applying deindexing tags to an article, which may limit the ability of search engines to find it.”</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https://www.lakecountystar.com/standards/</a:t>
            </a:r>
          </a:p>
          <a:p>
            <a:pPr>
              <a:spcAft>
                <a:spcPts val="600"/>
              </a:spcAft>
            </a:pPr>
            <a:r>
              <a:rPr sz="1200" b="0" i="0">
                <a:solidFill>
                  <a:srgbClr val="52514E"/>
                </a:solidFill>
                <a:latin typeface="Arial"/>
              </a:rPr>
              <a:t>Fetched 2026-10-09 06:11:40 · page SHA-256 9967a23cecaf8f3c…</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PRECEDENT 8 · PROFESSIONAL NEWSROOMS</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Times-Union</a:t>
            </a:r>
          </a:p>
        </p:txBody>
      </p:sp>
      <p:sp>
        <p:nvSpPr>
          <p:cNvPr id="4" name="TextBox 3"/>
          <p:cNvSpPr txBox="1"/>
          <p:nvPr/>
        </p:nvSpPr>
        <p:spPr>
          <a:xfrm>
            <a:off x="822960" y="1737360"/>
            <a:ext cx="10515600" cy="2926080"/>
          </a:xfrm>
          <a:prstGeom prst="rect">
            <a:avLst/>
          </a:prstGeom>
          <a:noFill/>
        </p:spPr>
        <p:txBody>
          <a:bodyPr wrap="square">
            <a:spAutoFit/>
          </a:bodyPr>
          <a:lstStyle/>
          <a:p>
            <a:pPr>
              <a:spcAft>
                <a:spcPts val="600"/>
              </a:spcAft>
            </a:pPr>
            <a:r>
              <a:rPr sz="2200" b="0" i="1">
                <a:solidFill>
                  <a:srgbClr val="0B0B0B"/>
                </a:solidFill>
                <a:latin typeface="Arial"/>
              </a:rPr>
              <a:t>“In circumstances where we determine that an update or correction is insufficient, Hearst newspapers may consider alternatives including applying deindexing tags to an article, which may limit the ability of search engines to find it.”</a:t>
            </a:r>
          </a:p>
        </p:txBody>
      </p:sp>
      <p:sp>
        <p:nvSpPr>
          <p:cNvPr id="5" name="TextBox 4"/>
          <p:cNvSpPr txBox="1"/>
          <p:nvPr/>
        </p:nvSpPr>
        <p:spPr>
          <a:xfrm>
            <a:off x="822960" y="4754880"/>
            <a:ext cx="10515600" cy="1280160"/>
          </a:xfrm>
          <a:prstGeom prst="rect">
            <a:avLst/>
          </a:prstGeom>
          <a:noFill/>
        </p:spPr>
        <p:txBody>
          <a:bodyPr wrap="square">
            <a:spAutoFit/>
          </a:bodyPr>
          <a:lstStyle/>
          <a:p>
            <a:pPr>
              <a:spcAft>
                <a:spcPts val="600"/>
              </a:spcAft>
            </a:pPr>
            <a:r>
              <a:rPr sz="1200" b="0" i="0">
                <a:solidFill>
                  <a:srgbClr val="52514E"/>
                </a:solidFill>
                <a:latin typeface="Arial"/>
              </a:rPr>
              <a:t>Source: https://www.timesunion.com/standards/</a:t>
            </a:r>
          </a:p>
          <a:p>
            <a:pPr>
              <a:spcAft>
                <a:spcPts val="600"/>
              </a:spcAft>
            </a:pPr>
            <a:r>
              <a:rPr sz="1200" b="0" i="0">
                <a:solidFill>
                  <a:srgbClr val="52514E"/>
                </a:solidFill>
                <a:latin typeface="Arial"/>
              </a:rPr>
              <a:t>Fetched 2026-10-09 06:50:28 · page SHA-256 cc4f50f2951df805…</a:t>
            </a:r>
          </a:p>
          <a:p>
            <a:pPr>
              <a:spcAft>
                <a:spcPts val="600"/>
              </a:spcAft>
            </a:pPr>
            <a:r>
              <a:rPr sz="1200" b="0" i="0">
                <a:solidFill>
                  <a:srgbClr val="52514E"/>
                </a:solidFill>
                <a:latin typeface="Arial"/>
              </a:rPr>
              <a:t>UNVERIFIED — confirm against source before quoting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EXPERT VOICES</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What respected practitioners say</a:t>
            </a:r>
          </a:p>
        </p:txBody>
      </p:sp>
      <p:sp>
        <p:nvSpPr>
          <p:cNvPr id="4" name="Rectangle 3"/>
          <p:cNvSpPr/>
          <p:nvPr/>
        </p:nvSpPr>
        <p:spPr>
          <a:xfrm>
            <a:off x="548640" y="1554480"/>
            <a:ext cx="5440680" cy="2194560"/>
          </a:xfrm>
          <a:prstGeom prst="rect">
            <a:avLst/>
          </a:prstGeom>
          <a:solidFill>
            <a:srgbClr val="E4F2EA"/>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5166360" cy="2011680"/>
          </a:xfrm>
          <a:prstGeom prst="rect">
            <a:avLst/>
          </a:prstGeom>
          <a:noFill/>
        </p:spPr>
        <p:txBody>
          <a:bodyPr wrap="square">
            <a:spAutoFit/>
          </a:bodyPr>
          <a:lstStyle/>
          <a:p>
            <a:pPr>
              <a:spcAft>
                <a:spcPts val="600"/>
              </a:spcAft>
            </a:pPr>
            <a:r>
              <a:rPr sz="1200" b="0" i="1">
                <a:solidFill>
                  <a:srgbClr val="0B0B0B"/>
                </a:solidFill>
                <a:latin typeface="Arial"/>
              </a:rPr>
              <a:t>“People who have committed non-violent crimes who successfully petition the courts to permanently delete all records of their criminal cases will be able to send us a request, along with proof of the expungement, &amp;amp; in most cases, we will remove their names ”</a:t>
            </a:r>
          </a:p>
          <a:p>
            <a:pPr>
              <a:spcAft>
                <a:spcPts val="600"/>
              </a:spcAft>
            </a:pPr>
            <a:r>
              <a:rPr sz="1200" b="0" i="0">
                <a:solidFill>
                  <a:srgbClr val="0B0B0B"/>
                </a:solidFill>
                <a:latin typeface="Arial"/>
              </a:rPr>
              <a:t>— Chris Quinn, Editor, cleveland.com / The Plain Dealer</a:t>
            </a:r>
          </a:p>
          <a:p>
            <a:pPr>
              <a:spcAft>
                <a:spcPts val="600"/>
              </a:spcAft>
            </a:pPr>
            <a:r>
              <a:rPr sz="1200" b="0" i="0">
                <a:solidFill>
                  <a:srgbClr val="0B0B0B"/>
                </a:solidFill>
                <a:latin typeface="Arial"/>
              </a:rPr>
              <a:t>https://www.cleveland.com/opinion/2018/07/right_to_be_forgotten_clevelan.html · UNVERIFIED</a:t>
            </a:r>
          </a:p>
        </p:txBody>
      </p:sp>
      <p:sp>
        <p:nvSpPr>
          <p:cNvPr id="6" name="Rectangle 5"/>
          <p:cNvSpPr/>
          <p:nvPr/>
        </p:nvSpPr>
        <p:spPr>
          <a:xfrm>
            <a:off x="6172200" y="1554480"/>
            <a:ext cx="5440680" cy="2194560"/>
          </a:xfrm>
          <a:prstGeom prst="rect">
            <a:avLst/>
          </a:prstGeom>
          <a:solidFill>
            <a:srgbClr val="E4F2EA"/>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645920"/>
            <a:ext cx="5166360" cy="2011680"/>
          </a:xfrm>
          <a:prstGeom prst="rect">
            <a:avLst/>
          </a:prstGeom>
          <a:noFill/>
        </p:spPr>
        <p:txBody>
          <a:bodyPr wrap="square">
            <a:spAutoFit/>
          </a:bodyPr>
          <a:lstStyle/>
          <a:p>
            <a:pPr>
              <a:spcAft>
                <a:spcPts val="600"/>
              </a:spcAft>
            </a:pPr>
            <a:r>
              <a:rPr sz="1200" b="0" i="1">
                <a:solidFill>
                  <a:srgbClr val="0B0B0B"/>
                </a:solidFill>
                <a:latin typeface="Arial"/>
              </a:rPr>
              <a:t>“People who have committed non-violent crimes who successfully petition the courts to permanently delete all records of their criminal cases will be able to send us a request, along with proof of the expungement, &amp; in most cases, we will remove their names from”</a:t>
            </a:r>
          </a:p>
          <a:p>
            <a:pPr>
              <a:spcAft>
                <a:spcPts val="600"/>
              </a:spcAft>
            </a:pPr>
            <a:r>
              <a:rPr sz="1200" b="0" i="0">
                <a:solidFill>
                  <a:srgbClr val="0B0B0B"/>
                </a:solidFill>
                <a:latin typeface="Arial"/>
              </a:rPr>
              <a:t>— Chris Quinn, Editor, cleveland.com / The Plain Dealer</a:t>
            </a:r>
          </a:p>
          <a:p>
            <a:pPr>
              <a:spcAft>
                <a:spcPts val="600"/>
              </a:spcAft>
            </a:pPr>
            <a:r>
              <a:rPr sz="1200" b="0" i="0">
                <a:solidFill>
                  <a:srgbClr val="0B0B0B"/>
                </a:solidFill>
                <a:latin typeface="Arial"/>
              </a:rPr>
              <a:t>https://www.cleveland.com/opinion/2018/07/right_to_be_forgotten_clevelan.html · UNVERIFIED</a:t>
            </a:r>
          </a:p>
        </p:txBody>
      </p:sp>
      <p:sp>
        <p:nvSpPr>
          <p:cNvPr id="8" name="Rectangle 7"/>
          <p:cNvSpPr/>
          <p:nvPr/>
        </p:nvSpPr>
        <p:spPr>
          <a:xfrm>
            <a:off x="548640" y="3886200"/>
            <a:ext cx="5440680" cy="2194560"/>
          </a:xfrm>
          <a:prstGeom prst="rect">
            <a:avLst/>
          </a:prstGeom>
          <a:solidFill>
            <a:srgbClr val="E4F2EA"/>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977639"/>
            <a:ext cx="5166360" cy="2011680"/>
          </a:xfrm>
          <a:prstGeom prst="rect">
            <a:avLst/>
          </a:prstGeom>
          <a:noFill/>
        </p:spPr>
        <p:txBody>
          <a:bodyPr wrap="square">
            <a:spAutoFit/>
          </a:bodyPr>
          <a:lstStyle/>
          <a:p>
            <a:pPr>
              <a:spcAft>
                <a:spcPts val="600"/>
              </a:spcAft>
            </a:pPr>
            <a:r>
              <a:rPr sz="1200" b="0" i="1">
                <a:solidFill>
                  <a:srgbClr val="0B0B0B"/>
                </a:solidFill>
                <a:latin typeface="Arial"/>
              </a:rPr>
              <a:t>“By removing the dated stories, we can remove bias that might exist in our archives.”</a:t>
            </a:r>
          </a:p>
          <a:p>
            <a:pPr>
              <a:spcAft>
                <a:spcPts val="600"/>
              </a:spcAft>
            </a:pPr>
            <a:r>
              <a:rPr sz="1200" b="0" i="0">
                <a:solidFill>
                  <a:srgbClr val="0B0B0B"/>
                </a:solidFill>
                <a:latin typeface="Arial"/>
              </a:rPr>
              <a:t>— Chris Quinn, Editor, cleveland.com / The Plain Dealer</a:t>
            </a:r>
          </a:p>
          <a:p>
            <a:pPr>
              <a:spcAft>
                <a:spcPts val="600"/>
              </a:spcAft>
            </a:pPr>
            <a:r>
              <a:rPr sz="1200" b="0" i="0">
                <a:solidFill>
                  <a:srgbClr val="0B0B0B"/>
                </a:solidFill>
                <a:latin typeface="Arial"/>
              </a:rPr>
              <a:t>https://www.cleveland.com/news/2020/12/our-right-to-be-forgotten-policy-is-about-to-help-a · UNVERIFIED</a:t>
            </a:r>
          </a:p>
        </p:txBody>
      </p:sp>
      <p:sp>
        <p:nvSpPr>
          <p:cNvPr id="10" name="Rectangle 9"/>
          <p:cNvSpPr/>
          <p:nvPr/>
        </p:nvSpPr>
        <p:spPr>
          <a:xfrm>
            <a:off x="6172200" y="3886200"/>
            <a:ext cx="5440680" cy="2194560"/>
          </a:xfrm>
          <a:prstGeom prst="rect">
            <a:avLst/>
          </a:prstGeom>
          <a:solidFill>
            <a:srgbClr val="E4F2EA"/>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977639"/>
            <a:ext cx="5166360" cy="2011680"/>
          </a:xfrm>
          <a:prstGeom prst="rect">
            <a:avLst/>
          </a:prstGeom>
          <a:noFill/>
        </p:spPr>
        <p:txBody>
          <a:bodyPr wrap="square">
            <a:spAutoFit/>
          </a:bodyPr>
          <a:lstStyle/>
          <a:p>
            <a:pPr>
              <a:spcAft>
                <a:spcPts val="600"/>
              </a:spcAft>
            </a:pPr>
            <a:r>
              <a:rPr sz="1200" b="0" i="1">
                <a:solidFill>
                  <a:srgbClr val="0B0B0B"/>
                </a:solidFill>
                <a:latin typeface="Arial"/>
              </a:rPr>
              <a:t>“Before we are finished, I suspect we will have removed thousands of mug shots from our site.”</a:t>
            </a:r>
          </a:p>
          <a:p>
            <a:pPr>
              <a:spcAft>
                <a:spcPts val="600"/>
              </a:spcAft>
            </a:pPr>
            <a:r>
              <a:rPr sz="1200" b="0" i="0">
                <a:solidFill>
                  <a:srgbClr val="0B0B0B"/>
                </a:solidFill>
                <a:latin typeface="Arial"/>
              </a:rPr>
              <a:t>— Chris Quinn, Editor, cleveland.com / The Plain Dealer</a:t>
            </a:r>
          </a:p>
          <a:p>
            <a:pPr>
              <a:spcAft>
                <a:spcPts val="600"/>
              </a:spcAft>
            </a:pPr>
            <a:r>
              <a:rPr sz="1200" b="0" i="0">
                <a:solidFill>
                  <a:srgbClr val="0B0B0B"/>
                </a:solidFill>
                <a:latin typeface="Arial"/>
              </a:rPr>
              <a:t>https://www.cleveland.com/  (news story; full address withheld) · UNVERIFIED</a:t>
            </a:r>
          </a:p>
        </p:txBody>
      </p:sp>
      <p:sp>
        <p:nvSpPr>
          <p:cNvPr id="12" name="TextBox 11"/>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Roles as commonly reported; attribution extracted automatically. Full list: workbook sheet 'Expert Voices'.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EXPERT VOICES</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Practitioners urging caution</a:t>
            </a:r>
          </a:p>
        </p:txBody>
      </p:sp>
      <p:sp>
        <p:nvSpPr>
          <p:cNvPr id="4" name="Rectangle 3"/>
          <p:cNvSpPr/>
          <p:nvPr/>
        </p:nvSpPr>
        <p:spPr>
          <a:xfrm>
            <a:off x="548640" y="1554480"/>
            <a:ext cx="5440680" cy="2194560"/>
          </a:xfrm>
          <a:prstGeom prst="rect">
            <a:avLst/>
          </a:prstGeom>
          <a:solidFill>
            <a:srgbClr val="FBE4E2"/>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5166360" cy="2011680"/>
          </a:xfrm>
          <a:prstGeom prst="rect">
            <a:avLst/>
          </a:prstGeom>
          <a:noFill/>
        </p:spPr>
        <p:txBody>
          <a:bodyPr wrap="square">
            <a:spAutoFit/>
          </a:bodyPr>
          <a:lstStyle/>
          <a:p>
            <a:pPr>
              <a:spcAft>
                <a:spcPts val="600"/>
              </a:spcAft>
            </a:pPr>
            <a:r>
              <a:rPr sz="1200" b="0" i="1">
                <a:solidFill>
                  <a:srgbClr val="0B0B0B"/>
                </a:solidFill>
                <a:latin typeface="Arial"/>
              </a:rPr>
              <a:t>“News leaders from The Boston Globe, Chicago Tribune, Chattanooga Times Free Press and Cleveland.com will share their newsrooms’ editorial policies and the philosophies driving them — including managing requests to remove, de-index or alter “the first draft of ”</a:t>
            </a:r>
          </a:p>
          <a:p>
            <a:pPr>
              <a:spcAft>
                <a:spcPts val="600"/>
              </a:spcAft>
            </a:pPr>
            <a:r>
              <a:rPr sz="1200" b="0" i="0">
                <a:solidFill>
                  <a:srgbClr val="0B0B0B"/>
                </a:solidFill>
                <a:latin typeface="Arial"/>
              </a:rPr>
              <a:t>— RJI Online RJI Fellows Class of 2020–2021</a:t>
            </a:r>
          </a:p>
          <a:p>
            <a:pPr>
              <a:spcAft>
                <a:spcPts val="600"/>
              </a:spcAft>
            </a:pPr>
            <a:r>
              <a:rPr sz="1200" b="0" i="0">
                <a:solidFill>
                  <a:srgbClr val="0B0B0B"/>
                </a:solidFill>
                <a:latin typeface="Arial"/>
              </a:rPr>
              <a:t>https://rjionline.org/events/crime-mugshots-and-takedown-requests-editors-share-newsroom-a · UNVERIFIED</a:t>
            </a:r>
          </a:p>
        </p:txBody>
      </p:sp>
      <p:sp>
        <p:nvSpPr>
          <p:cNvPr id="6" name="Rectangle 5"/>
          <p:cNvSpPr/>
          <p:nvPr/>
        </p:nvSpPr>
        <p:spPr>
          <a:xfrm>
            <a:off x="6172200" y="1554480"/>
            <a:ext cx="5440680" cy="2194560"/>
          </a:xfrm>
          <a:prstGeom prst="rect">
            <a:avLst/>
          </a:prstGeom>
          <a:solidFill>
            <a:srgbClr val="FBE4E2"/>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645920"/>
            <a:ext cx="5166360" cy="2011680"/>
          </a:xfrm>
          <a:prstGeom prst="rect">
            <a:avLst/>
          </a:prstGeom>
          <a:noFill/>
        </p:spPr>
        <p:txBody>
          <a:bodyPr wrap="square">
            <a:spAutoFit/>
          </a:bodyPr>
          <a:lstStyle/>
          <a:p>
            <a:pPr>
              <a:spcAft>
                <a:spcPts val="600"/>
              </a:spcAft>
            </a:pPr>
            <a:r>
              <a:rPr sz="1200" b="0" i="1">
                <a:solidFill>
                  <a:srgbClr val="0B0B0B"/>
                </a:solidFill>
                <a:latin typeface="Arial"/>
              </a:rPr>
              <a:t>“However, we do not grant requests to remove names or stories involving major news events, serious crimes — particularly those involving violence/sexual assault — or public corruption.”</a:t>
            </a:r>
          </a:p>
          <a:p>
            <a:pPr>
              <a:spcAft>
                <a:spcPts val="600"/>
              </a:spcAft>
            </a:pPr>
            <a:r>
              <a:rPr sz="1200" b="0" i="0">
                <a:solidFill>
                  <a:srgbClr val="0B0B0B"/>
                </a:solidFill>
                <a:latin typeface="Arial"/>
              </a:rPr>
              <a:t>— Judy Locorriere</a:t>
            </a:r>
          </a:p>
          <a:p>
            <a:pPr>
              <a:spcAft>
                <a:spcPts val="600"/>
              </a:spcAft>
            </a:pPr>
            <a:r>
              <a:rPr sz="1200" b="0" i="0">
                <a:solidFill>
                  <a:srgbClr val="0B0B0B"/>
                </a:solidFill>
                <a:latin typeface="Arial"/>
              </a:rPr>
              <a:t>https://www.lehighvalleylive.com/  (news story; full address withheld) · UNVERIFIED</a:t>
            </a:r>
          </a:p>
        </p:txBody>
      </p:sp>
      <p:sp>
        <p:nvSpPr>
          <p:cNvPr id="8" name="Rectangle 7"/>
          <p:cNvSpPr/>
          <p:nvPr/>
        </p:nvSpPr>
        <p:spPr>
          <a:xfrm>
            <a:off x="548640" y="3886200"/>
            <a:ext cx="5440680" cy="2194560"/>
          </a:xfrm>
          <a:prstGeom prst="rect">
            <a:avLst/>
          </a:prstGeom>
          <a:solidFill>
            <a:srgbClr val="FBE4E2"/>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3977639"/>
            <a:ext cx="5166360" cy="2011680"/>
          </a:xfrm>
          <a:prstGeom prst="rect">
            <a:avLst/>
          </a:prstGeom>
          <a:noFill/>
        </p:spPr>
        <p:txBody>
          <a:bodyPr wrap="square">
            <a:spAutoFit/>
          </a:bodyPr>
          <a:lstStyle/>
          <a:p>
            <a:pPr>
              <a:spcAft>
                <a:spcPts val="600"/>
              </a:spcAft>
            </a:pPr>
            <a:r>
              <a:rPr sz="1200" b="0" i="1">
                <a:solidFill>
                  <a:srgbClr val="0B0B0B"/>
                </a:solidFill>
                <a:latin typeface="Arial"/>
              </a:rPr>
              <a:t>“This, of course, piqued my interest — an admission that the archive, which is supposed to serve as a permanent record of the university’s past, had been selectively edited.”</a:t>
            </a:r>
          </a:p>
          <a:p>
            <a:pPr>
              <a:spcAft>
                <a:spcPts val="600"/>
              </a:spcAft>
            </a:pPr>
            <a:r>
              <a:rPr sz="1200" b="0" i="0">
                <a:solidFill>
                  <a:srgbClr val="0B0B0B"/>
                </a:solidFill>
                <a:latin typeface="Arial"/>
              </a:rPr>
              <a:t>— Jefferson Dodge</a:t>
            </a:r>
          </a:p>
          <a:p>
            <a:pPr>
              <a:spcAft>
                <a:spcPts val="600"/>
              </a:spcAft>
            </a:pPr>
            <a:r>
              <a:rPr sz="1200" b="0" i="0">
                <a:solidFill>
                  <a:srgbClr val="0B0B0B"/>
                </a:solidFill>
                <a:latin typeface="Arial"/>
              </a:rPr>
              <a:t>https://archives.boulderweekly.com/  (news story; full address withheld) · UNVERIFIED</a:t>
            </a:r>
          </a:p>
        </p:txBody>
      </p:sp>
      <p:sp>
        <p:nvSpPr>
          <p:cNvPr id="10" name="Rectangle 9"/>
          <p:cNvSpPr/>
          <p:nvPr/>
        </p:nvSpPr>
        <p:spPr>
          <a:xfrm>
            <a:off x="6172200" y="3886200"/>
            <a:ext cx="5440680" cy="2194560"/>
          </a:xfrm>
          <a:prstGeom prst="rect">
            <a:avLst/>
          </a:prstGeom>
          <a:solidFill>
            <a:srgbClr val="FBE4E2"/>
          </a:solidFill>
          <a:ln>
            <a:solidFill>
              <a:srgbClr val="E4E3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977639"/>
            <a:ext cx="5166360" cy="2011680"/>
          </a:xfrm>
          <a:prstGeom prst="rect">
            <a:avLst/>
          </a:prstGeom>
          <a:noFill/>
        </p:spPr>
        <p:txBody>
          <a:bodyPr wrap="square">
            <a:spAutoFit/>
          </a:bodyPr>
          <a:lstStyle/>
          <a:p>
            <a:pPr>
              <a:spcAft>
                <a:spcPts val="600"/>
              </a:spcAft>
            </a:pPr>
            <a:r>
              <a:rPr sz="1200" b="0" i="1">
                <a:solidFill>
                  <a:srgbClr val="0B0B0B"/>
                </a:solidFill>
                <a:latin typeface="Arial"/>
              </a:rPr>
              <a:t>“It runs counter to our core mission of informing the public and creating the first draft of history.”</a:t>
            </a:r>
          </a:p>
          <a:p>
            <a:pPr>
              <a:spcAft>
                <a:spcPts val="600"/>
              </a:spcAft>
            </a:pPr>
            <a:r>
              <a:rPr sz="1200" b="0" i="0">
                <a:solidFill>
                  <a:srgbClr val="0B0B0B"/>
                </a:solidFill>
                <a:latin typeface="Arial"/>
              </a:rPr>
              <a:t>— Dan MacLeod</a:t>
            </a:r>
          </a:p>
          <a:p>
            <a:pPr>
              <a:spcAft>
                <a:spcPts val="600"/>
              </a:spcAft>
            </a:pPr>
            <a:r>
              <a:rPr sz="1200" b="0" i="0">
                <a:solidFill>
                  <a:srgbClr val="0B0B0B"/>
                </a:solidFill>
                <a:latin typeface="Arial"/>
              </a:rPr>
              <a:t>https://www.bangordailynews.com/2021/01/25/news/were-changing-our-policy-on-old-crime-stor · UNVERIFIED</a:t>
            </a:r>
          </a:p>
        </p:txBody>
      </p:sp>
      <p:sp>
        <p:nvSpPr>
          <p:cNvPr id="12" name="TextBox 11"/>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Roles as commonly reported; attribution extracted automatically. Full list: workbook sheet 'Expert Voices'.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OPPOSING EVIDENCE</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The main objection: the archive is the historical record</a:t>
            </a:r>
          </a:p>
        </p:txBody>
      </p:sp>
      <p:sp>
        <p:nvSpPr>
          <p:cNvPr id="4" name="TextBox 3"/>
          <p:cNvSpPr txBox="1"/>
          <p:nvPr/>
        </p:nvSpPr>
        <p:spPr>
          <a:xfrm>
            <a:off x="548640" y="1645920"/>
            <a:ext cx="11064240" cy="3108960"/>
          </a:xfrm>
          <a:prstGeom prst="rect">
            <a:avLst/>
          </a:prstGeom>
          <a:noFill/>
        </p:spPr>
        <p:txBody>
          <a:bodyPr wrap="square">
            <a:spAutoFit/>
          </a:bodyPr>
          <a:lstStyle/>
          <a:p>
            <a:pPr>
              <a:spcAft>
                <a:spcPts val="600"/>
              </a:spcAft>
            </a:pPr>
            <a:r>
              <a:rPr sz="1600" b="0" i="0">
                <a:solidFill>
                  <a:srgbClr val="0B0B0B"/>
                </a:solidFill>
                <a:latin typeface="Arial"/>
              </a:rPr>
              <a:t>“We do not unpublish accurate stories because a subject finds them embarrassing or inconvenient.” — Gilroy Dispatch</a:t>
            </a:r>
          </a:p>
          <a:p>
            <a:pPr>
              <a:spcAft>
                <a:spcPts val="600"/>
              </a:spcAft>
            </a:pPr>
            <a:r>
              <a:rPr sz="1600" b="0" i="0">
                <a:solidFill>
                  <a:srgbClr val="0B0B0B"/>
                </a:solidFill>
                <a:latin typeface="Arial"/>
              </a:rPr>
              <a:t>“We do not unpublish accurate stories because a subject finds them embarrassing or inconvenient.” — Gonzales Tribune</a:t>
            </a:r>
          </a:p>
          <a:p>
            <a:pPr>
              <a:spcAft>
                <a:spcPts val="600"/>
              </a:spcAft>
            </a:pPr>
            <a:r>
              <a:rPr sz="1600" b="0" i="0">
                <a:solidFill>
                  <a:srgbClr val="0B0B0B"/>
                </a:solidFill>
                <a:latin typeface="Arial"/>
              </a:rPr>
              <a:t>“Requests That Will Not [name withheld] The Sentinel-Record will not consider de-indexing articles based on the following circumstances: - Public records (e.g., marriage licenses, divorces, births, police reports). - Subj” — Sentinel-Record</a:t>
            </a:r>
          </a:p>
        </p:txBody>
      </p:sp>
      <p:sp>
        <p:nvSpPr>
          <p:cNvPr id="5" name="TextBox 4"/>
          <p:cNvSpPr txBox="1"/>
          <p:nvPr/>
        </p:nvSpPr>
        <p:spPr>
          <a:xfrm>
            <a:off x="548640" y="4846320"/>
            <a:ext cx="11064240" cy="1280160"/>
          </a:xfrm>
          <a:prstGeom prst="rect">
            <a:avLst/>
          </a:prstGeom>
          <a:noFill/>
        </p:spPr>
        <p:txBody>
          <a:bodyPr wrap="square">
            <a:spAutoFit/>
          </a:bodyPr>
          <a:lstStyle/>
          <a:p>
            <a:pPr>
              <a:spcAft>
                <a:spcPts val="600"/>
              </a:spcAft>
            </a:pPr>
            <a:r>
              <a:rPr sz="1600" b="0" i="0">
                <a:solidFill>
                  <a:srgbClr val="52514E"/>
                </a:solidFill>
                <a:latin typeface="Arial"/>
              </a:rPr>
              <a:t>In this dataset, 123 organization(s) allow or practice de-indexing or anonymization while keeping the article published; 23 organization(s) explicitly reject unpublishing.</a:t>
            </a:r>
          </a:p>
          <a:p>
            <a:pPr>
              <a:spcAft>
                <a:spcPts val="600"/>
              </a:spcAft>
            </a:pPr>
            <a:r>
              <a:rPr sz="1600" b="0" i="0">
                <a:solidFill>
                  <a:srgbClr val="52514E"/>
                </a:solidFill>
                <a:latin typeface="Arial"/>
              </a:rPr>
              <a:t>De-indexing and anonymization leave the published record in place.</a:t>
            </a:r>
          </a:p>
        </p:txBody>
      </p:sp>
      <p:sp>
        <p:nvSpPr>
          <p:cNvPr id="6" name="TextBox 5"/>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All 813 opposing excerpts: workbook sheet 'Opposing Evidence'.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MEASURED, NOT ASSUMED</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How accurate is the automated classification?</a:t>
            </a:r>
          </a:p>
        </p:txBody>
      </p:sp>
      <p:sp>
        <p:nvSpPr>
          <p:cNvPr id="4" name="TextBox 3"/>
          <p:cNvSpPr txBox="1"/>
          <p:nvPr/>
        </p:nvSpPr>
        <p:spPr>
          <a:xfrm>
            <a:off x="548640" y="1737360"/>
            <a:ext cx="11064240" cy="1828800"/>
          </a:xfrm>
          <a:prstGeom prst="rect">
            <a:avLst/>
          </a:prstGeom>
          <a:noFill/>
        </p:spPr>
        <p:txBody>
          <a:bodyPr wrap="square">
            <a:spAutoFit/>
          </a:bodyPr>
          <a:lstStyle/>
          <a:p>
            <a:pPr>
              <a:spcAft>
                <a:spcPts val="600"/>
              </a:spcAft>
            </a:pPr>
            <a:r>
              <a:rPr sz="2000" b="0" i="0">
                <a:solidFill>
                  <a:srgbClr val="52514E"/>
                </a:solidFill>
                <a:latin typeface="Arial"/>
              </a:rPr>
              <a:t>Not yet measured. Run `nsmpa audit sample`, label the sample, and rebuild the packet.</a:t>
            </a:r>
          </a:p>
        </p:txBody>
      </p:sp>
      <p:sp>
        <p:nvSpPr>
          <p:cNvPr id="5" name="TextBox 4"/>
          <p:cNvSpPr txBox="1"/>
          <p:nvPr/>
        </p:nvSpPr>
        <p:spPr>
          <a:xfrm>
            <a:off x="548640" y="6263640"/>
            <a:ext cx="11064240" cy="365760"/>
          </a:xfrm>
          <a:prstGeom prst="rect">
            <a:avLst/>
          </a:prstGeom>
          <a:noFill/>
        </p:spPr>
        <p:txBody>
          <a:bodyPr wrap="square">
            <a:spAutoFit/>
          </a:bodyPr>
          <a:lstStyle/>
          <a:p>
            <a:pPr>
              <a:spcAft>
                <a:spcPts val="600"/>
              </a:spcAft>
            </a:pPr>
            <a:r>
              <a:rPr sz="1000" b="0" i="0">
                <a:solidFill>
                  <a:srgbClr val="8A8984"/>
                </a:solidFill>
                <a:latin typeface="Arial"/>
              </a:rPr>
              <a:t>Workbook sheet 'Accuracy'.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pPr>
              <a:spcAft>
                <a:spcPts val="600"/>
              </a:spcAft>
            </a:pPr>
            <a:r>
              <a:rPr sz="1200" b="0" i="0">
                <a:solidFill>
                  <a:srgbClr val="8A8984"/>
                </a:solidFill>
                <a:latin typeface="Arial"/>
              </a:rPr>
              <a:t>READ BEFORE RELYING ON IT</a:t>
            </a:r>
          </a:p>
        </p:txBody>
      </p:sp>
      <p:sp>
        <p:nvSpPr>
          <p:cNvPr id="3" name="TextBox 2"/>
          <p:cNvSpPr txBox="1"/>
          <p:nvPr/>
        </p:nvSpPr>
        <p:spPr>
          <a:xfrm>
            <a:off x="548640" y="594360"/>
            <a:ext cx="11064240" cy="822960"/>
          </a:xfrm>
          <a:prstGeom prst="rect">
            <a:avLst/>
          </a:prstGeom>
          <a:noFill/>
        </p:spPr>
        <p:txBody>
          <a:bodyPr wrap="square">
            <a:spAutoFit/>
          </a:bodyPr>
          <a:lstStyle/>
          <a:p>
            <a:pPr>
              <a:spcAft>
                <a:spcPts val="600"/>
              </a:spcAft>
            </a:pPr>
            <a:r>
              <a:rPr sz="3000" b="1" i="0">
                <a:solidFill>
                  <a:srgbClr val="0B0B0B"/>
                </a:solidFill>
                <a:latin typeface="Arial"/>
              </a:rPr>
              <a:t>Limits of this evidence</a:t>
            </a:r>
          </a:p>
        </p:txBody>
      </p:sp>
      <p:sp>
        <p:nvSpPr>
          <p:cNvPr id="4" name="TextBox 3"/>
          <p:cNvSpPr txBox="1"/>
          <p:nvPr/>
        </p:nvSpPr>
        <p:spPr>
          <a:xfrm>
            <a:off x="548640" y="1645920"/>
            <a:ext cx="11064240" cy="4480560"/>
          </a:xfrm>
          <a:prstGeom prst="rect">
            <a:avLst/>
          </a:prstGeom>
          <a:noFill/>
        </p:spPr>
        <p:txBody>
          <a:bodyPr wrap="square">
            <a:spAutoFit/>
          </a:bodyPr>
          <a:lstStyle/>
          <a:p>
            <a:pPr>
              <a:spcAft>
                <a:spcPts val="600"/>
              </a:spcAft>
            </a:pPr>
            <a:r>
              <a:rPr sz="1600" b="0" i="0">
                <a:solidFill>
                  <a:srgbClr val="0B0B0B"/>
                </a:solidFill>
                <a:latin typeface="Arial"/>
              </a:rPr>
              <a:t>• Automated extraction; every quote used publicly should be confirmed against the live page or snapshot.</a:t>
            </a:r>
          </a:p>
          <a:p>
            <a:pPr>
              <a:spcAft>
                <a:spcPts val="600"/>
              </a:spcAft>
            </a:pPr>
            <a:r>
              <a:rPr sz="1600" b="0" i="0">
                <a:solidFill>
                  <a:srgbClr val="0B0B0B"/>
                </a:solidFill>
                <a:latin typeface="Arial"/>
              </a:rPr>
              <a:t>• Professional newsroom group is a sourced panel, not a census of U.S. journalism.</a:t>
            </a:r>
          </a:p>
          <a:p>
            <a:pPr>
              <a:spcAft>
                <a:spcPts val="600"/>
              </a:spcAft>
            </a:pPr>
            <a:r>
              <a:rPr sz="1600" b="0" i="0">
                <a:solidFill>
                  <a:srgbClr val="0B0B0B"/>
                </a:solidFill>
                <a:latin typeface="Arial"/>
              </a:rPr>
              <a:t>• Absence of a written policy is not evidence of a practice either way.</a:t>
            </a:r>
          </a:p>
          <a:p>
            <a:pPr>
              <a:spcAft>
                <a:spcPts val="600"/>
              </a:spcAft>
            </a:pPr>
            <a:r>
              <a:rPr sz="1600" b="0" i="0">
                <a:solidFill>
                  <a:srgbClr val="0B0B0B"/>
                </a:solidFill>
                <a:latin typeface="Arial"/>
              </a:rPr>
              <a:t>• Absence from Google is never treated as de-indexing; only noindex directives on the page itself are counted.</a:t>
            </a:r>
          </a:p>
          <a:p>
            <a:pPr>
              <a:spcAft>
                <a:spcPts val="600"/>
              </a:spcAft>
            </a:pPr>
            <a:r>
              <a:rPr sz="1600" b="0" i="0">
                <a:solidFill>
                  <a:srgbClr val="0B0B0B"/>
                </a:solidFill>
                <a:latin typeface="Arial"/>
              </a:rPr>
              <a:t>• Student media: preliminary — publication discovery coverage; research coverage of universe; human review of findings</a:t>
            </a:r>
          </a:p>
          <a:p>
            <a:pPr>
              <a:spcAft>
                <a:spcPts val="600"/>
              </a:spcAft>
            </a:pPr>
            <a:r>
              <a:rPr sz="1600" b="0" i="0">
                <a:solidFill>
                  <a:srgbClr val="0B0B0B"/>
                </a:solidFill>
                <a:latin typeface="Arial"/>
              </a:rPr>
              <a:t>• Professional newsrooms: preliminary — undetermined rate; human review of findings; source verification of evidence</a:t>
            </a:r>
          </a:p>
          <a:p>
            <a:pPr>
              <a:spcAft>
                <a:spcPts val="600"/>
              </a:spcAft>
            </a:pPr>
            <a:r>
              <a:rPr sz="1600" b="0" i="0">
                <a:solidFill>
                  <a:srgbClr val="0B0B0B"/>
                </a:solidFill>
                <a:latin typeface="Arial"/>
              </a:rPr>
              <a:t>• Broadcast newsrooms: preliminary — minimum researched entities; research coverage of universe; undetermined rate</a:t>
            </a:r>
          </a:p>
          <a:p>
            <a:pPr>
              <a:spcAft>
                <a:spcPts val="600"/>
              </a:spcAft>
            </a:pPr>
            <a:r>
              <a:rPr sz="1600" b="0" i="0">
                <a:solidFill>
                  <a:srgbClr val="0B0B0B"/>
                </a:solidFill>
                <a:latin typeface="Arial"/>
              </a:rPr>
              <a:t>• Standards &amp; support orgs: preliminary — undetermined rate; human review of findings; source verification of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